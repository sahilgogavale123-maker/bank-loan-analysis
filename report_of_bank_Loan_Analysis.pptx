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8" r:id="rId9"/>
    <p:sldId id="269" r:id="rId10"/>
    <p:sldId id="264"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3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E:\Banke%20Analysis\working_ban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Banke%20Analysis\working_ban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Banke%20Analysis\working_ban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Banke%20Analysis\working_ban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E:\Banke%20Analysis\working_ban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E:\Banke%20Analysis\working_bank.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[working_bank.xlsx]PivotTables!PivotTable2</c:name>
    <c:fmtId val="16"/>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Loan Approval by Gender</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PivotTables!$B$8:$B$9</c:f>
              <c:strCache>
                <c:ptCount val="1"/>
                <c:pt idx="0">
                  <c:v>Approved</c:v>
                </c:pt>
              </c:strCache>
            </c:strRef>
          </c:tx>
          <c:spPr>
            <a:solidFill>
              <a:srgbClr val="002060">
                <a:alpha val="85000"/>
              </a:srgb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PivotTables!$A$10:$A$12</c:f>
              <c:strCache>
                <c:ptCount val="2"/>
                <c:pt idx="0">
                  <c:v>Female</c:v>
                </c:pt>
                <c:pt idx="1">
                  <c:v>Male</c:v>
                </c:pt>
              </c:strCache>
            </c:strRef>
          </c:cat>
          <c:val>
            <c:numRef>
              <c:f>PivotTables!$B$10:$B$12</c:f>
              <c:numCache>
                <c:formatCode>General</c:formatCode>
                <c:ptCount val="2"/>
                <c:pt idx="0">
                  <c:v>469</c:v>
                </c:pt>
                <c:pt idx="1">
                  <c:v>434</c:v>
                </c:pt>
              </c:numCache>
            </c:numRef>
          </c:val>
          <c:extLst>
            <c:ext xmlns:c16="http://schemas.microsoft.com/office/drawing/2014/chart" uri="{C3380CC4-5D6E-409C-BE32-E72D297353CC}">
              <c16:uniqueId val="{00000000-8702-4640-9583-6845C035A409}"/>
            </c:ext>
          </c:extLst>
        </c:ser>
        <c:ser>
          <c:idx val="1"/>
          <c:order val="1"/>
          <c:tx>
            <c:strRef>
              <c:f>PivotTables!$C$8:$C$9</c:f>
              <c:strCache>
                <c:ptCount val="1"/>
                <c:pt idx="0">
                  <c:v>Rejected</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PivotTables!$A$10:$A$12</c:f>
              <c:strCache>
                <c:ptCount val="2"/>
                <c:pt idx="0">
                  <c:v>Female</c:v>
                </c:pt>
                <c:pt idx="1">
                  <c:v>Male</c:v>
                </c:pt>
              </c:strCache>
            </c:strRef>
          </c:cat>
          <c:val>
            <c:numRef>
              <c:f>PivotTables!$C$10:$C$12</c:f>
              <c:numCache>
                <c:formatCode>General</c:formatCode>
                <c:ptCount val="2"/>
                <c:pt idx="0">
                  <c:v>53</c:v>
                </c:pt>
                <c:pt idx="1">
                  <c:v>44</c:v>
                </c:pt>
              </c:numCache>
            </c:numRef>
          </c:val>
          <c:extLst>
            <c:ext xmlns:c16="http://schemas.microsoft.com/office/drawing/2014/chart" uri="{C3380CC4-5D6E-409C-BE32-E72D297353CC}">
              <c16:uniqueId val="{00000001-8702-4640-9583-6845C035A409}"/>
            </c:ext>
          </c:extLst>
        </c:ser>
        <c:dLbls>
          <c:dLblPos val="inEnd"/>
          <c:showLegendKey val="0"/>
          <c:showVal val="1"/>
          <c:showCatName val="0"/>
          <c:showSerName val="0"/>
          <c:showPercent val="0"/>
          <c:showBubbleSize val="0"/>
        </c:dLbls>
        <c:gapWidth val="65"/>
        <c:axId val="1572172575"/>
        <c:axId val="1406795983"/>
      </c:barChart>
      <c:catAx>
        <c:axId val="1572172575"/>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Gender</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406795983"/>
        <c:crosses val="autoZero"/>
        <c:auto val="1"/>
        <c:lblAlgn val="ctr"/>
        <c:lblOffset val="100"/>
        <c:noMultiLvlLbl val="0"/>
      </c:catAx>
      <c:valAx>
        <c:axId val="140679598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Number of Loan Applications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crossAx val="1572172575"/>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[working_bank.xlsx]PivotTables!PivotTable1</c:name>
    <c:fmtId val="24"/>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Loan Status Distribution</a:t>
            </a:r>
          </a:p>
        </c:rich>
      </c:tx>
      <c:layout>
        <c:manualLayout>
          <c:xMode val="edge"/>
          <c:yMode val="edge"/>
          <c:x val="0.27424858193143448"/>
          <c:y val="9.8280747329924631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pivotFmt>
      <c:pivotFmt>
        <c:idx val="7"/>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olidFill>
          <a:ln>
            <a:noFill/>
          </a:ln>
          <a:effectLst>
            <a:outerShdw blurRad="254000" sx="102000" sy="102000" algn="ctr" rotWithShape="0">
              <a:prstClr val="black">
                <a:alpha val="20000"/>
              </a:prstClr>
            </a:outerShdw>
          </a:effectLst>
        </c:spPr>
      </c:pivotFmt>
      <c:pivotFmt>
        <c:idx val="9"/>
        <c:spPr>
          <a:solidFill>
            <a:schemeClr val="accent1"/>
          </a:solidFill>
          <a:ln>
            <a:noFill/>
          </a:ln>
          <a:effectLst>
            <a:outerShdw blurRad="254000" sx="102000" sy="102000" algn="ctr" rotWithShape="0">
              <a:prstClr val="black">
                <a:alpha val="20000"/>
              </a:prstClr>
            </a:outerShdw>
          </a:effectLst>
        </c:spPr>
      </c:pivotFmt>
      <c:pivotFmt>
        <c:idx val="10"/>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a:noFill/>
          </a:ln>
          <a:effectLst>
            <a:outerShdw blurRad="254000" sx="102000" sy="102000" algn="ctr" rotWithShape="0">
              <a:prstClr val="black">
                <a:alpha val="20000"/>
              </a:prstClr>
            </a:outerShdw>
          </a:effectLst>
        </c:spPr>
      </c:pivotFmt>
      <c:pivotFmt>
        <c:idx val="12"/>
        <c:spPr>
          <a:solidFill>
            <a:schemeClr val="accent1"/>
          </a:solidFill>
          <a:ln>
            <a:noFill/>
          </a:ln>
          <a:effectLst>
            <a:outerShdw blurRad="254000" sx="102000" sy="102000" algn="ctr" rotWithShape="0">
              <a:prstClr val="black">
                <a:alpha val="20000"/>
              </a:prstClr>
            </a:outerShdw>
          </a:effectLst>
        </c:spPr>
      </c:pivotFmt>
    </c:pivotFmts>
    <c:plotArea>
      <c:layout/>
      <c:doughnutChart>
        <c:varyColors val="1"/>
        <c:ser>
          <c:idx val="0"/>
          <c:order val="0"/>
          <c:tx>
            <c:strRef>
              <c:f>PivotTables!$B$1</c:f>
              <c:strCache>
                <c:ptCount val="1"/>
                <c:pt idx="0">
                  <c:v>Total</c:v>
                </c:pt>
              </c:strCache>
            </c:strRef>
          </c:tx>
          <c:spPr>
            <a:solidFill>
              <a:srgbClr val="002060"/>
            </a:solidFill>
          </c:spPr>
          <c:dPt>
            <c:idx val="0"/>
            <c:bubble3D val="0"/>
            <c:spPr>
              <a:solidFill>
                <a:srgbClr val="002060"/>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853-41AD-899B-EA2C7EA649B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853-41AD-899B-EA2C7EA649B0}"/>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PivotTables!$A$2:$A$4</c:f>
              <c:strCache>
                <c:ptCount val="2"/>
                <c:pt idx="0">
                  <c:v>Approved</c:v>
                </c:pt>
                <c:pt idx="1">
                  <c:v>Rejected</c:v>
                </c:pt>
              </c:strCache>
            </c:strRef>
          </c:cat>
          <c:val>
            <c:numRef>
              <c:f>PivotTables!$B$2:$B$4</c:f>
              <c:numCache>
                <c:formatCode>General</c:formatCode>
                <c:ptCount val="2"/>
                <c:pt idx="0">
                  <c:v>903</c:v>
                </c:pt>
                <c:pt idx="1">
                  <c:v>97</c:v>
                </c:pt>
              </c:numCache>
            </c:numRef>
          </c:val>
          <c:extLst>
            <c:ext xmlns:c16="http://schemas.microsoft.com/office/drawing/2014/chart" uri="{C3380CC4-5D6E-409C-BE32-E72D297353CC}">
              <c16:uniqueId val="{00000004-4853-41AD-899B-EA2C7EA649B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Entry>
      <c:layout>
        <c:manualLayout>
          <c:xMode val="edge"/>
          <c:yMode val="edge"/>
          <c:x val="0.7851833510062961"/>
          <c:y val="0.35514370524941352"/>
          <c:w val="0.20060866839710673"/>
          <c:h val="0.20825225983788356"/>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[working_bank.xlsx]PivotTables!PivotTable3</c:name>
    <c:fmtId val="19"/>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Loan Approval by Education</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circle"/>
          <c:size val="6"/>
          <c:spPr>
            <a:solidFill>
              <a:schemeClr val="accent2">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PivotTables!$B$17:$B$18</c:f>
              <c:strCache>
                <c:ptCount val="1"/>
                <c:pt idx="0">
                  <c:v>Approved</c:v>
                </c:pt>
              </c:strCache>
            </c:strRef>
          </c:tx>
          <c:spPr>
            <a:solidFill>
              <a:srgbClr val="002060">
                <a:alpha val="85000"/>
              </a:srgb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PivotTables!$A$19:$A$21</c:f>
              <c:strCache>
                <c:ptCount val="2"/>
                <c:pt idx="0">
                  <c:v>Graduate</c:v>
                </c:pt>
                <c:pt idx="1">
                  <c:v>Not Graduate</c:v>
                </c:pt>
              </c:strCache>
            </c:strRef>
          </c:cat>
          <c:val>
            <c:numRef>
              <c:f>PivotTables!$B$19:$B$21</c:f>
              <c:numCache>
                <c:formatCode>General</c:formatCode>
                <c:ptCount val="2"/>
                <c:pt idx="0">
                  <c:v>473</c:v>
                </c:pt>
                <c:pt idx="1">
                  <c:v>430</c:v>
                </c:pt>
              </c:numCache>
            </c:numRef>
          </c:val>
          <c:extLst>
            <c:ext xmlns:c16="http://schemas.microsoft.com/office/drawing/2014/chart" uri="{C3380CC4-5D6E-409C-BE32-E72D297353CC}">
              <c16:uniqueId val="{00000000-338F-47EB-8616-DF9448D28999}"/>
            </c:ext>
          </c:extLst>
        </c:ser>
        <c:ser>
          <c:idx val="1"/>
          <c:order val="1"/>
          <c:tx>
            <c:strRef>
              <c:f>PivotTables!$C$17:$C$18</c:f>
              <c:strCache>
                <c:ptCount val="1"/>
                <c:pt idx="0">
                  <c:v>Rejected</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PivotTables!$A$19:$A$21</c:f>
              <c:strCache>
                <c:ptCount val="2"/>
                <c:pt idx="0">
                  <c:v>Graduate</c:v>
                </c:pt>
                <c:pt idx="1">
                  <c:v>Not Graduate</c:v>
                </c:pt>
              </c:strCache>
            </c:strRef>
          </c:cat>
          <c:val>
            <c:numRef>
              <c:f>PivotTables!$C$19:$C$21</c:f>
              <c:numCache>
                <c:formatCode>General</c:formatCode>
                <c:ptCount val="2"/>
                <c:pt idx="0">
                  <c:v>43</c:v>
                </c:pt>
                <c:pt idx="1">
                  <c:v>54</c:v>
                </c:pt>
              </c:numCache>
            </c:numRef>
          </c:val>
          <c:extLst>
            <c:ext xmlns:c16="http://schemas.microsoft.com/office/drawing/2014/chart" uri="{C3380CC4-5D6E-409C-BE32-E72D297353CC}">
              <c16:uniqueId val="{00000001-338F-47EB-8616-DF9448D28999}"/>
            </c:ext>
          </c:extLst>
        </c:ser>
        <c:dLbls>
          <c:dLblPos val="inEnd"/>
          <c:showLegendKey val="0"/>
          <c:showVal val="1"/>
          <c:showCatName val="0"/>
          <c:showSerName val="0"/>
          <c:showPercent val="0"/>
          <c:showBubbleSize val="0"/>
        </c:dLbls>
        <c:gapWidth val="65"/>
        <c:axId val="1573782703"/>
        <c:axId val="1406793103"/>
      </c:barChart>
      <c:catAx>
        <c:axId val="1573782703"/>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Education Level</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406793103"/>
        <c:crosses val="autoZero"/>
        <c:auto val="1"/>
        <c:lblAlgn val="ctr"/>
        <c:lblOffset val="100"/>
        <c:noMultiLvlLbl val="0"/>
      </c:catAx>
      <c:valAx>
        <c:axId val="140679310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Number of Loan Applications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crossAx val="1573782703"/>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[working_bank.xlsx]PivotTables!PivotTable5</c:name>
    <c:fmtId val="32"/>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Loan Approval by Credit History.</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PivotTables!$J$17:$J$18</c:f>
              <c:strCache>
                <c:ptCount val="1"/>
                <c:pt idx="0">
                  <c:v>Approved</c:v>
                </c:pt>
              </c:strCache>
            </c:strRef>
          </c:tx>
          <c:spPr>
            <a:solidFill>
              <a:srgbClr val="002060">
                <a:alpha val="85000"/>
              </a:srgb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PivotTables!$I$19:$I$21</c:f>
              <c:strCache>
                <c:ptCount val="2"/>
                <c:pt idx="0">
                  <c:v>0</c:v>
                </c:pt>
                <c:pt idx="1">
                  <c:v>1</c:v>
                </c:pt>
              </c:strCache>
            </c:strRef>
          </c:cat>
          <c:val>
            <c:numRef>
              <c:f>PivotTables!$J$19:$J$21</c:f>
              <c:numCache>
                <c:formatCode>General</c:formatCode>
                <c:ptCount val="2"/>
                <c:pt idx="0">
                  <c:v>198</c:v>
                </c:pt>
                <c:pt idx="1">
                  <c:v>705</c:v>
                </c:pt>
              </c:numCache>
            </c:numRef>
          </c:val>
          <c:extLst>
            <c:ext xmlns:c16="http://schemas.microsoft.com/office/drawing/2014/chart" uri="{C3380CC4-5D6E-409C-BE32-E72D297353CC}">
              <c16:uniqueId val="{00000000-F0C7-4985-B0C8-8C57E7A6CC0E}"/>
            </c:ext>
          </c:extLst>
        </c:ser>
        <c:ser>
          <c:idx val="1"/>
          <c:order val="1"/>
          <c:tx>
            <c:strRef>
              <c:f>PivotTables!$K$17:$K$18</c:f>
              <c:strCache>
                <c:ptCount val="1"/>
                <c:pt idx="0">
                  <c:v>Rejected</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PivotTables!$I$19:$I$21</c:f>
              <c:strCache>
                <c:ptCount val="2"/>
                <c:pt idx="0">
                  <c:v>0</c:v>
                </c:pt>
                <c:pt idx="1">
                  <c:v>1</c:v>
                </c:pt>
              </c:strCache>
            </c:strRef>
          </c:cat>
          <c:val>
            <c:numRef>
              <c:f>PivotTables!$K$19:$K$21</c:f>
              <c:numCache>
                <c:formatCode>General</c:formatCode>
                <c:ptCount val="2"/>
                <c:pt idx="0">
                  <c:v>49</c:v>
                </c:pt>
                <c:pt idx="1">
                  <c:v>48</c:v>
                </c:pt>
              </c:numCache>
            </c:numRef>
          </c:val>
          <c:extLst>
            <c:ext xmlns:c16="http://schemas.microsoft.com/office/drawing/2014/chart" uri="{C3380CC4-5D6E-409C-BE32-E72D297353CC}">
              <c16:uniqueId val="{00000001-F0C7-4985-B0C8-8C57E7A6CC0E}"/>
            </c:ext>
          </c:extLst>
        </c:ser>
        <c:dLbls>
          <c:dLblPos val="inEnd"/>
          <c:showLegendKey val="0"/>
          <c:showVal val="1"/>
          <c:showCatName val="0"/>
          <c:showSerName val="0"/>
          <c:showPercent val="0"/>
          <c:showBubbleSize val="0"/>
        </c:dLbls>
        <c:gapWidth val="65"/>
        <c:axId val="1592153775"/>
        <c:axId val="1196274511"/>
      </c:barChart>
      <c:catAx>
        <c:axId val="1592153775"/>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Credit History</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196274511"/>
        <c:crosses val="autoZero"/>
        <c:auto val="1"/>
        <c:lblAlgn val="ctr"/>
        <c:lblOffset val="100"/>
        <c:noMultiLvlLbl val="0"/>
      </c:catAx>
      <c:valAx>
        <c:axId val="1196274511"/>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a:t>Number of Loan Applications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crossAx val="1592153775"/>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4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[working_bank.xlsx]PivotTables!PivotTable4</c:name>
    <c:fmtId val="29"/>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dirty="0"/>
              <a:t>Total Loan Amount by Property Area</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PivotTables!$J$5</c:f>
              <c:strCache>
                <c:ptCount val="1"/>
                <c:pt idx="0">
                  <c:v>Total</c:v>
                </c:pt>
              </c:strCache>
            </c:strRef>
          </c:tx>
          <c:spPr>
            <a:solidFill>
              <a:srgbClr val="002060">
                <a:alpha val="85000"/>
              </a:srgb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PivotTables!$I$6:$I$9</c:f>
              <c:strCache>
                <c:ptCount val="3"/>
                <c:pt idx="0">
                  <c:v>Rural</c:v>
                </c:pt>
                <c:pt idx="1">
                  <c:v>Semiurban</c:v>
                </c:pt>
                <c:pt idx="2">
                  <c:v>Urban</c:v>
                </c:pt>
              </c:strCache>
            </c:strRef>
          </c:cat>
          <c:val>
            <c:numRef>
              <c:f>PivotTables!$J$6:$J$9</c:f>
              <c:numCache>
                <c:formatCode>General</c:formatCode>
                <c:ptCount val="3"/>
                <c:pt idx="0">
                  <c:v>129641</c:v>
                </c:pt>
                <c:pt idx="1">
                  <c:v>127117</c:v>
                </c:pt>
                <c:pt idx="2">
                  <c:v>123097</c:v>
                </c:pt>
              </c:numCache>
            </c:numRef>
          </c:val>
          <c:extLst>
            <c:ext xmlns:c16="http://schemas.microsoft.com/office/drawing/2014/chart" uri="{C3380CC4-5D6E-409C-BE32-E72D297353CC}">
              <c16:uniqueId val="{00000000-E617-4955-8FA7-C376F2CEAC6B}"/>
            </c:ext>
          </c:extLst>
        </c:ser>
        <c:dLbls>
          <c:dLblPos val="inEnd"/>
          <c:showLegendKey val="0"/>
          <c:showVal val="1"/>
          <c:showCatName val="0"/>
          <c:showSerName val="0"/>
          <c:showPercent val="0"/>
          <c:showBubbleSize val="0"/>
        </c:dLbls>
        <c:gapWidth val="65"/>
        <c:axId val="729945359"/>
        <c:axId val="665670767"/>
      </c:barChart>
      <c:catAx>
        <c:axId val="729945359"/>
        <c:scaling>
          <c:orientation val="minMax"/>
        </c:scaling>
        <c:delete val="0"/>
        <c:axPos val="l"/>
        <c:title>
          <c:tx>
            <c:rich>
              <a:bodyPr rot="-5400000" spcFirstLastPara="1" vertOverflow="ellipsis" vert="horz" wrap="square" anchor="ctr" anchorCtr="1"/>
              <a:lstStyle/>
              <a:p>
                <a:pPr>
                  <a:defRPr sz="1100" b="1" i="0" u="none" strike="noStrike" kern="1200" baseline="0">
                    <a:solidFill>
                      <a:schemeClr val="dk1">
                        <a:lumMod val="75000"/>
                        <a:lumOff val="25000"/>
                      </a:schemeClr>
                    </a:solidFill>
                    <a:latin typeface="+mn-lt"/>
                    <a:ea typeface="+mn-ea"/>
                    <a:cs typeface="+mn-cs"/>
                  </a:defRPr>
                </a:pPr>
                <a:r>
                  <a:rPr lang="en-US" sz="1100" dirty="0"/>
                  <a:t>Property   Area</a:t>
                </a:r>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65670767"/>
        <c:crosses val="autoZero"/>
        <c:auto val="1"/>
        <c:lblAlgn val="ctr"/>
        <c:lblOffset val="100"/>
        <c:noMultiLvlLbl val="0"/>
      </c:catAx>
      <c:valAx>
        <c:axId val="665670767"/>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sz="1200" dirty="0"/>
                  <a:t>Total Loan Amount</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7299453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[working_bank.xlsx]PivotTables!PivotTable6</c:name>
    <c:fmtId val="41"/>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Loan Approval by Dependents.</a:t>
            </a:r>
          </a:p>
        </c:rich>
      </c:tx>
      <c:layout>
        <c:manualLayout>
          <c:xMode val="edge"/>
          <c:yMode val="edge"/>
          <c:x val="0.19719933597231365"/>
          <c:y val="1.934317875747339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percentStacked"/>
        <c:varyColors val="0"/>
        <c:ser>
          <c:idx val="0"/>
          <c:order val="0"/>
          <c:tx>
            <c:strRef>
              <c:f>PivotTables!$J$27:$J$28</c:f>
              <c:strCache>
                <c:ptCount val="1"/>
                <c:pt idx="0">
                  <c:v>Approved</c:v>
                </c:pt>
              </c:strCache>
            </c:strRef>
          </c:tx>
          <c:spPr>
            <a:solidFill>
              <a:schemeClr val="accent1">
                <a:lumMod val="50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PivotTables!$I$29:$I$33</c:f>
              <c:strCache>
                <c:ptCount val="4"/>
                <c:pt idx="0">
                  <c:v>0</c:v>
                </c:pt>
                <c:pt idx="1">
                  <c:v>1</c:v>
                </c:pt>
                <c:pt idx="2">
                  <c:v>2</c:v>
                </c:pt>
                <c:pt idx="3">
                  <c:v>3</c:v>
                </c:pt>
              </c:strCache>
            </c:strRef>
          </c:cat>
          <c:val>
            <c:numRef>
              <c:f>PivotTables!$J$29:$J$33</c:f>
              <c:numCache>
                <c:formatCode>0.00%</c:formatCode>
                <c:ptCount val="4"/>
                <c:pt idx="0">
                  <c:v>0.92468619246861927</c:v>
                </c:pt>
                <c:pt idx="1">
                  <c:v>0.87739463601532564</c:v>
                </c:pt>
                <c:pt idx="2">
                  <c:v>0.92116182572614103</c:v>
                </c:pt>
                <c:pt idx="3">
                  <c:v>0.89189189189189189</c:v>
                </c:pt>
              </c:numCache>
            </c:numRef>
          </c:val>
          <c:extLst>
            <c:ext xmlns:c16="http://schemas.microsoft.com/office/drawing/2014/chart" uri="{C3380CC4-5D6E-409C-BE32-E72D297353CC}">
              <c16:uniqueId val="{00000000-F6BD-4F4A-B581-0C3A17C59E3F}"/>
            </c:ext>
          </c:extLst>
        </c:ser>
        <c:ser>
          <c:idx val="1"/>
          <c:order val="1"/>
          <c:tx>
            <c:strRef>
              <c:f>PivotTables!$K$27:$K$28</c:f>
              <c:strCache>
                <c:ptCount val="1"/>
                <c:pt idx="0">
                  <c:v>Rejected</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PivotTables!$I$29:$I$33</c:f>
              <c:strCache>
                <c:ptCount val="4"/>
                <c:pt idx="0">
                  <c:v>0</c:v>
                </c:pt>
                <c:pt idx="1">
                  <c:v>1</c:v>
                </c:pt>
                <c:pt idx="2">
                  <c:v>2</c:v>
                </c:pt>
                <c:pt idx="3">
                  <c:v>3</c:v>
                </c:pt>
              </c:strCache>
            </c:strRef>
          </c:cat>
          <c:val>
            <c:numRef>
              <c:f>PivotTables!$K$29:$K$33</c:f>
              <c:numCache>
                <c:formatCode>0.00%</c:formatCode>
                <c:ptCount val="4"/>
                <c:pt idx="0">
                  <c:v>7.5313807531380755E-2</c:v>
                </c:pt>
                <c:pt idx="1">
                  <c:v>0.12260536398467432</c:v>
                </c:pt>
                <c:pt idx="2">
                  <c:v>7.8838174273858919E-2</c:v>
                </c:pt>
                <c:pt idx="3">
                  <c:v>0.10810810810810811</c:v>
                </c:pt>
              </c:numCache>
            </c:numRef>
          </c:val>
          <c:extLst>
            <c:ext xmlns:c16="http://schemas.microsoft.com/office/drawing/2014/chart" uri="{C3380CC4-5D6E-409C-BE32-E72D297353CC}">
              <c16:uniqueId val="{00000001-F6BD-4F4A-B581-0C3A17C59E3F}"/>
            </c:ext>
          </c:extLst>
        </c:ser>
        <c:dLbls>
          <c:dLblPos val="ctr"/>
          <c:showLegendKey val="0"/>
          <c:showVal val="1"/>
          <c:showCatName val="0"/>
          <c:showSerName val="0"/>
          <c:showPercent val="0"/>
          <c:showBubbleSize val="0"/>
        </c:dLbls>
        <c:gapWidth val="150"/>
        <c:overlap val="100"/>
        <c:axId val="2036162416"/>
        <c:axId val="1489750800"/>
      </c:barChart>
      <c:catAx>
        <c:axId val="2036162416"/>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Number of Dependents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489750800"/>
        <c:crosses val="autoZero"/>
        <c:auto val="1"/>
        <c:lblAlgn val="ctr"/>
        <c:lblOffset val="100"/>
        <c:noMultiLvlLbl val="0"/>
      </c:catAx>
      <c:valAx>
        <c:axId val="1489750800"/>
        <c:scaling>
          <c:orientation val="minMax"/>
        </c:scaling>
        <c:delete val="1"/>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Number of Loan Applications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0%" sourceLinked="1"/>
        <c:majorTickMark val="none"/>
        <c:minorTickMark val="none"/>
        <c:tickLblPos val="nextTo"/>
        <c:crossAx val="2036162416"/>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300">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637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5889-4B5D-9208-5D61-52470950F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49272-053B-1D9E-B556-E110BD670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BD516-3935-DD54-15D2-546017390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4D0A23-B781-8785-8A2F-62E1010B5D8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76616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1734A-571C-6ABB-C954-9C32C77AE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0DD17-E508-12E2-8606-6CD444FF5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64D66-8D3D-26E9-BC08-DF81223BEB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345C1-46E8-C78D-8474-DB80339937B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14647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33A5E"/>
          </a:solidFill>
          <a:ln/>
        </p:spPr>
      </p:sp>
      <p:sp>
        <p:nvSpPr>
          <p:cNvPr id="3" name="Shape 1"/>
          <p:cNvSpPr/>
          <p:nvPr/>
        </p:nvSpPr>
        <p:spPr>
          <a:xfrm>
            <a:off x="8138160" y="0"/>
            <a:ext cx="36576" cy="6858000"/>
          </a:xfrm>
          <a:prstGeom prst="rect">
            <a:avLst/>
          </a:prstGeom>
          <a:solidFill>
            <a:srgbClr val="02C39A"/>
          </a:solidFill>
          <a:ln/>
        </p:spPr>
      </p:sp>
      <p:pic>
        <p:nvPicPr>
          <p:cNvPr id="4" name="Image 0" descr="/home/claude/icons/bank.png"/>
          <p:cNvPicPr>
            <a:picLocks noChangeAspect="1"/>
          </p:cNvPicPr>
          <p:nvPr/>
        </p:nvPicPr>
        <p:blipFill>
          <a:blip r:embed="rId3"/>
          <a:stretch>
            <a:fillRect/>
          </a:stretch>
        </p:blipFill>
        <p:spPr>
          <a:xfrm>
            <a:off x="8935059" y="1908376"/>
            <a:ext cx="2057400" cy="2027595"/>
          </a:xfrm>
          <a:prstGeom prst="rect">
            <a:avLst/>
          </a:prstGeom>
        </p:spPr>
      </p:pic>
      <p:sp>
        <p:nvSpPr>
          <p:cNvPr id="5" name="Text 2"/>
          <p:cNvSpPr/>
          <p:nvPr/>
        </p:nvSpPr>
        <p:spPr>
          <a:xfrm>
            <a:off x="640080" y="2331720"/>
            <a:ext cx="7315200" cy="365760"/>
          </a:xfrm>
          <a:prstGeom prst="rect">
            <a:avLst/>
          </a:prstGeom>
          <a:noFill/>
          <a:ln/>
        </p:spPr>
        <p:txBody>
          <a:bodyPr wrap="square"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A DATA ANALYTICS PORTFOLIO PROJECT</a:t>
            </a:r>
            <a:endParaRPr lang="en-US" sz="1300" dirty="0"/>
          </a:p>
        </p:txBody>
      </p:sp>
      <p:sp>
        <p:nvSpPr>
          <p:cNvPr id="6" name="Text 3"/>
          <p:cNvSpPr/>
          <p:nvPr/>
        </p:nvSpPr>
        <p:spPr>
          <a:xfrm>
            <a:off x="594360" y="2697480"/>
            <a:ext cx="7315200" cy="173736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Bank Loan Analysis</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Dashboard</a:t>
            </a:r>
            <a:endParaRPr lang="en-US" sz="4400" dirty="0"/>
          </a:p>
        </p:txBody>
      </p:sp>
      <p:sp>
        <p:nvSpPr>
          <p:cNvPr id="7" name="Text 4"/>
          <p:cNvSpPr/>
          <p:nvPr/>
        </p:nvSpPr>
        <p:spPr>
          <a:xfrm>
            <a:off x="640080" y="4343400"/>
            <a:ext cx="7132320" cy="457200"/>
          </a:xfrm>
          <a:prstGeom prst="rect">
            <a:avLst/>
          </a:prstGeom>
          <a:noFill/>
          <a:ln/>
        </p:spPr>
        <p:txBody>
          <a:bodyPr wrap="square" rtlCol="0" anchor="ctr"/>
          <a:lstStyle/>
          <a:p>
            <a:pPr marL="0" indent="0">
              <a:buNone/>
            </a:pPr>
            <a:r>
              <a:rPr lang="en-US" sz="1800" i="1" dirty="0">
                <a:solidFill>
                  <a:srgbClr val="C7D6E3"/>
                </a:solidFill>
                <a:latin typeface="Calibri" pitchFamily="34" charset="0"/>
                <a:ea typeface="Calibri" pitchFamily="34" charset="-122"/>
                <a:cs typeface="Calibri" pitchFamily="34" charset="-120"/>
              </a:rPr>
              <a:t>Using Microsoft Excel and Power Query</a:t>
            </a:r>
            <a:endParaRPr lang="en-US" sz="1800" dirty="0"/>
          </a:p>
        </p:txBody>
      </p:sp>
      <p:sp>
        <p:nvSpPr>
          <p:cNvPr id="8" name="Shape 5"/>
          <p:cNvSpPr/>
          <p:nvPr/>
        </p:nvSpPr>
        <p:spPr>
          <a:xfrm>
            <a:off x="640080" y="4983480"/>
            <a:ext cx="2926080" cy="0"/>
          </a:xfrm>
          <a:prstGeom prst="line">
            <a:avLst/>
          </a:prstGeom>
          <a:noFill/>
          <a:ln w="19050">
            <a:solidFill>
              <a:srgbClr val="1C7293"/>
            </a:solidFill>
            <a:prstDash val="solid"/>
          </a:ln>
        </p:spPr>
      </p:sp>
      <p:sp>
        <p:nvSpPr>
          <p:cNvPr id="9" name="Text 6"/>
          <p:cNvSpPr/>
          <p:nvPr/>
        </p:nvSpPr>
        <p:spPr>
          <a:xfrm>
            <a:off x="640080" y="5212080"/>
            <a:ext cx="7223760" cy="822960"/>
          </a:xfrm>
          <a:prstGeom prst="rect">
            <a:avLst/>
          </a:prstGeom>
          <a:noFill/>
          <a:ln/>
        </p:spPr>
        <p:txBody>
          <a:bodyPr wrap="square" rtlCol="0" anchor="ctr"/>
          <a:lstStyle/>
          <a:p>
            <a:pPr marL="0" indent="0">
              <a:lnSpc>
                <a:spcPts val="2000"/>
              </a:lnSpc>
              <a:buNone/>
            </a:pPr>
            <a:r>
              <a:rPr lang="en-US" sz="1250" dirty="0">
                <a:solidFill>
                  <a:srgbClr val="8FA6BC"/>
                </a:solidFill>
                <a:latin typeface="Calibri" pitchFamily="34" charset="0"/>
                <a:ea typeface="Calibri" pitchFamily="34" charset="-122"/>
                <a:cs typeface="Calibri" pitchFamily="34" charset="-120"/>
              </a:rPr>
              <a:t>Prepared for: </a:t>
            </a:r>
            <a:r>
              <a:rPr lang="en-US" sz="1250" b="1" dirty="0">
                <a:solidFill>
                  <a:srgbClr val="FFFFFF"/>
                </a:solidFill>
                <a:latin typeface="Calibri" pitchFamily="34" charset="0"/>
                <a:ea typeface="Calibri" pitchFamily="34" charset="-122"/>
                <a:cs typeface="Calibri" pitchFamily="34" charset="-120"/>
              </a:rPr>
              <a:t>Data Analyst Internship &amp; Portfolio Review
</a:t>
            </a:r>
            <a:r>
              <a:rPr lang="en-US" sz="1250" dirty="0">
                <a:solidFill>
                  <a:srgbClr val="8FA6BC"/>
                </a:solidFill>
                <a:latin typeface="Calibri" pitchFamily="34" charset="0"/>
                <a:ea typeface="Calibri" pitchFamily="34" charset="-122"/>
                <a:cs typeface="Calibri" pitchFamily="34" charset="-120"/>
              </a:rPr>
              <a:t>Tools: </a:t>
            </a:r>
            <a:r>
              <a:rPr lang="en-US" sz="1250" b="1" dirty="0">
                <a:solidFill>
                  <a:srgbClr val="FFFFFF"/>
                </a:solidFill>
                <a:latin typeface="Calibri" pitchFamily="34" charset="0"/>
                <a:ea typeface="Calibri" pitchFamily="34" charset="-122"/>
                <a:cs typeface="Calibri" pitchFamily="34" charset="-120"/>
              </a:rPr>
              <a:t>Excel  |  Power Query  |  PivotTables  |  PivotCharts  |  Slicers</a:t>
            </a:r>
            <a:endParaRPr lang="en-US" sz="1250" dirty="0"/>
          </a:p>
        </p:txBody>
      </p:sp>
      <p:sp>
        <p:nvSpPr>
          <p:cNvPr id="10" name="Text 7"/>
          <p:cNvSpPr/>
          <p:nvPr/>
        </p:nvSpPr>
        <p:spPr>
          <a:xfrm>
            <a:off x="8503920" y="6080760"/>
            <a:ext cx="3383280" cy="548640"/>
          </a:xfrm>
          <a:prstGeom prst="rect">
            <a:avLst/>
          </a:prstGeom>
          <a:noFill/>
          <a:ln/>
        </p:spPr>
        <p:txBody>
          <a:bodyPr wrap="square" rtlCol="0" anchor="ctr"/>
          <a:lstStyle/>
          <a:p>
            <a:pPr marL="0" indent="0">
              <a:buNone/>
            </a:pPr>
            <a:r>
              <a:rPr lang="en-US" sz="1050" i="1" dirty="0">
                <a:solidFill>
                  <a:srgbClr val="9FB6C9"/>
                </a:solidFill>
                <a:latin typeface="Calibri" pitchFamily="34" charset="0"/>
                <a:ea typeface="Calibri" pitchFamily="34" charset="-122"/>
                <a:cs typeface="Calibri" pitchFamily="34" charset="-120"/>
              </a:rPr>
              <a:t>Empowering data-driven lending decisions through analytics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7"/>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01  ·  INTRODUCTION</a:t>
            </a:r>
            <a:endParaRPr lang="en-US" sz="125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Project Overview</a:t>
            </a:r>
            <a:endParaRPr lang="en-US" sz="3000" dirty="0"/>
          </a:p>
        </p:txBody>
      </p:sp>
      <p:sp>
        <p:nvSpPr>
          <p:cNvPr id="4" name="Text 2"/>
          <p:cNvSpPr/>
          <p:nvPr/>
        </p:nvSpPr>
        <p:spPr>
          <a:xfrm>
            <a:off x="548640" y="1508760"/>
            <a:ext cx="6766560" cy="1554480"/>
          </a:xfrm>
          <a:prstGeom prst="rect">
            <a:avLst/>
          </a:prstGeom>
          <a:noFill/>
          <a:ln/>
        </p:spPr>
        <p:txBody>
          <a:bodyPr wrap="square" rtlCol="0" anchor="ctr"/>
          <a:lstStyle/>
          <a:p>
            <a:pPr marL="0" indent="0">
              <a:lnSpc>
                <a:spcPts val="2100"/>
              </a:lnSpc>
              <a:buNone/>
            </a:pPr>
            <a:r>
              <a:rPr lang="en-US" sz="1350" dirty="0">
                <a:solidFill>
                  <a:srgbClr val="16222E"/>
                </a:solidFill>
                <a:latin typeface="Calibri" pitchFamily="34" charset="0"/>
                <a:ea typeface="Calibri" pitchFamily="34" charset="-122"/>
                <a:cs typeface="Calibri" pitchFamily="34" charset="-120"/>
              </a:rPr>
              <a:t>This project analyzes a bank's historical loan application data to understand the factors that drive loan approval and rejection decisions. Using Microsoft Excel and Power Query, raw application data was cleaned, transformed, and modeled into an interactive dashboard that helps credit teams evaluate applicant risk at a glance.</a:t>
            </a:r>
            <a:endParaRPr lang="en-US" sz="1350" dirty="0"/>
          </a:p>
        </p:txBody>
      </p:sp>
      <p:sp>
        <p:nvSpPr>
          <p:cNvPr id="5" name="Text 3"/>
          <p:cNvSpPr/>
          <p:nvPr/>
        </p:nvSpPr>
        <p:spPr>
          <a:xfrm>
            <a:off x="548640" y="3200400"/>
            <a:ext cx="5486400" cy="36576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Tools &amp; Techniques Used</a:t>
            </a:r>
            <a:endParaRPr lang="en-US" sz="1500" dirty="0"/>
          </a:p>
        </p:txBody>
      </p:sp>
      <p:sp>
        <p:nvSpPr>
          <p:cNvPr id="6" name="Shape 4"/>
          <p:cNvSpPr/>
          <p:nvPr/>
        </p:nvSpPr>
        <p:spPr>
          <a:xfrm>
            <a:off x="548640" y="3657600"/>
            <a:ext cx="2103120" cy="914400"/>
          </a:xfrm>
          <a:prstGeom prst="roundRect">
            <a:avLst>
              <a:gd name="adj" fmla="val 8000"/>
            </a:avLst>
          </a:prstGeom>
          <a:solidFill>
            <a:srgbClr val="0B2545"/>
          </a:solidFill>
          <a:ln/>
        </p:spPr>
      </p:sp>
      <p:pic>
        <p:nvPicPr>
          <p:cNvPr id="7" name="Image 0" descr="/home/claude/icons/excel.png"/>
          <p:cNvPicPr>
            <a:picLocks noChangeAspect="1"/>
          </p:cNvPicPr>
          <p:nvPr/>
        </p:nvPicPr>
        <p:blipFill>
          <a:blip r:embed="rId3"/>
          <a:stretch>
            <a:fillRect/>
          </a:stretch>
        </p:blipFill>
        <p:spPr>
          <a:xfrm>
            <a:off x="685800" y="3877056"/>
            <a:ext cx="457200" cy="457200"/>
          </a:xfrm>
          <a:prstGeom prst="rect">
            <a:avLst/>
          </a:prstGeom>
        </p:spPr>
      </p:pic>
      <p:sp>
        <p:nvSpPr>
          <p:cNvPr id="8" name="Text 5"/>
          <p:cNvSpPr/>
          <p:nvPr/>
        </p:nvSpPr>
        <p:spPr>
          <a:xfrm>
            <a:off x="1207008" y="3657600"/>
            <a:ext cx="1353312" cy="914400"/>
          </a:xfrm>
          <a:prstGeom prst="rect">
            <a:avLst/>
          </a:prstGeom>
          <a:noFill/>
          <a:ln/>
        </p:spPr>
        <p:txBody>
          <a:bodyPr wrap="square" rtlCol="0" anchor="ctr"/>
          <a:lstStyle/>
          <a:p>
            <a:pPr marL="0" indent="0">
              <a:lnSpc>
                <a:spcPts val="1300"/>
              </a:lnSpc>
              <a:buNone/>
            </a:pPr>
            <a:r>
              <a:rPr lang="en-US" sz="1150" b="1" dirty="0">
                <a:solidFill>
                  <a:srgbClr val="FFFFFF"/>
                </a:solidFill>
                <a:latin typeface="Calibri" pitchFamily="34" charset="0"/>
                <a:ea typeface="Calibri" pitchFamily="34" charset="-122"/>
                <a:cs typeface="Calibri" pitchFamily="34" charset="-120"/>
              </a:rPr>
              <a:t>Microsoft Excel</a:t>
            </a:r>
            <a:endParaRPr lang="en-US" sz="1150" dirty="0"/>
          </a:p>
        </p:txBody>
      </p:sp>
      <p:sp>
        <p:nvSpPr>
          <p:cNvPr id="9" name="Shape 6"/>
          <p:cNvSpPr/>
          <p:nvPr/>
        </p:nvSpPr>
        <p:spPr>
          <a:xfrm>
            <a:off x="2788920" y="3657600"/>
            <a:ext cx="2103120" cy="914400"/>
          </a:xfrm>
          <a:prstGeom prst="roundRect">
            <a:avLst>
              <a:gd name="adj" fmla="val 8000"/>
            </a:avLst>
          </a:prstGeom>
          <a:solidFill>
            <a:srgbClr val="0B2545"/>
          </a:solidFill>
          <a:ln/>
        </p:spPr>
      </p:sp>
      <p:pic>
        <p:nvPicPr>
          <p:cNvPr id="10" name="Image 1" descr="/home/claude/icons/powerquery.png"/>
          <p:cNvPicPr>
            <a:picLocks noChangeAspect="1"/>
          </p:cNvPicPr>
          <p:nvPr/>
        </p:nvPicPr>
        <p:blipFill>
          <a:blip r:embed="rId4"/>
          <a:stretch>
            <a:fillRect/>
          </a:stretch>
        </p:blipFill>
        <p:spPr>
          <a:xfrm>
            <a:off x="2926080" y="3877056"/>
            <a:ext cx="457200" cy="457200"/>
          </a:xfrm>
          <a:prstGeom prst="rect">
            <a:avLst/>
          </a:prstGeom>
        </p:spPr>
      </p:pic>
      <p:sp>
        <p:nvSpPr>
          <p:cNvPr id="11" name="Text 7"/>
          <p:cNvSpPr/>
          <p:nvPr/>
        </p:nvSpPr>
        <p:spPr>
          <a:xfrm>
            <a:off x="3447288" y="3657600"/>
            <a:ext cx="1353312" cy="914400"/>
          </a:xfrm>
          <a:prstGeom prst="rect">
            <a:avLst/>
          </a:prstGeom>
          <a:noFill/>
          <a:ln/>
        </p:spPr>
        <p:txBody>
          <a:bodyPr wrap="square" rtlCol="0" anchor="ctr"/>
          <a:lstStyle/>
          <a:p>
            <a:pPr marL="0" indent="0">
              <a:lnSpc>
                <a:spcPts val="1300"/>
              </a:lnSpc>
              <a:buNone/>
            </a:pPr>
            <a:r>
              <a:rPr lang="en-US" sz="1150" b="1" dirty="0">
                <a:solidFill>
                  <a:srgbClr val="FFFFFF"/>
                </a:solidFill>
                <a:latin typeface="Calibri" pitchFamily="34" charset="0"/>
                <a:ea typeface="Calibri" pitchFamily="34" charset="-122"/>
                <a:cs typeface="Calibri" pitchFamily="34" charset="-120"/>
              </a:rPr>
              <a:t>Power Query</a:t>
            </a:r>
            <a:endParaRPr lang="en-US" sz="1150" dirty="0"/>
          </a:p>
        </p:txBody>
      </p:sp>
      <p:sp>
        <p:nvSpPr>
          <p:cNvPr id="12" name="Shape 8"/>
          <p:cNvSpPr/>
          <p:nvPr/>
        </p:nvSpPr>
        <p:spPr>
          <a:xfrm>
            <a:off x="5029200" y="3657600"/>
            <a:ext cx="2103120" cy="914400"/>
          </a:xfrm>
          <a:prstGeom prst="roundRect">
            <a:avLst>
              <a:gd name="adj" fmla="val 8000"/>
            </a:avLst>
          </a:prstGeom>
          <a:solidFill>
            <a:srgbClr val="0B2545"/>
          </a:solidFill>
          <a:ln/>
        </p:spPr>
      </p:sp>
      <p:pic>
        <p:nvPicPr>
          <p:cNvPr id="13" name="Image 2" descr="/home/claude/icons/pivottable.png"/>
          <p:cNvPicPr>
            <a:picLocks noChangeAspect="1"/>
          </p:cNvPicPr>
          <p:nvPr/>
        </p:nvPicPr>
        <p:blipFill>
          <a:blip r:embed="rId5"/>
          <a:stretch>
            <a:fillRect/>
          </a:stretch>
        </p:blipFill>
        <p:spPr>
          <a:xfrm>
            <a:off x="5166360" y="3877056"/>
            <a:ext cx="457200" cy="457200"/>
          </a:xfrm>
          <a:prstGeom prst="rect">
            <a:avLst/>
          </a:prstGeom>
        </p:spPr>
      </p:pic>
      <p:sp>
        <p:nvSpPr>
          <p:cNvPr id="14" name="Text 9"/>
          <p:cNvSpPr/>
          <p:nvPr/>
        </p:nvSpPr>
        <p:spPr>
          <a:xfrm>
            <a:off x="5687568" y="3657600"/>
            <a:ext cx="1353312" cy="914400"/>
          </a:xfrm>
          <a:prstGeom prst="rect">
            <a:avLst/>
          </a:prstGeom>
          <a:noFill/>
          <a:ln/>
        </p:spPr>
        <p:txBody>
          <a:bodyPr wrap="square" rtlCol="0" anchor="ctr"/>
          <a:lstStyle/>
          <a:p>
            <a:pPr marL="0" indent="0">
              <a:lnSpc>
                <a:spcPts val="1300"/>
              </a:lnSpc>
              <a:buNone/>
            </a:pPr>
            <a:r>
              <a:rPr lang="en-US" sz="1150" b="1" dirty="0">
                <a:solidFill>
                  <a:srgbClr val="FFFFFF"/>
                </a:solidFill>
                <a:latin typeface="Calibri" pitchFamily="34" charset="0"/>
                <a:ea typeface="Calibri" pitchFamily="34" charset="-122"/>
                <a:cs typeface="Calibri" pitchFamily="34" charset="-120"/>
              </a:rPr>
              <a:t>PivotTables</a:t>
            </a:r>
            <a:endParaRPr lang="en-US" sz="1150" dirty="0"/>
          </a:p>
        </p:txBody>
      </p:sp>
      <p:sp>
        <p:nvSpPr>
          <p:cNvPr id="15" name="Shape 10"/>
          <p:cNvSpPr/>
          <p:nvPr/>
        </p:nvSpPr>
        <p:spPr>
          <a:xfrm>
            <a:off x="548640" y="4709160"/>
            <a:ext cx="2103120" cy="914400"/>
          </a:xfrm>
          <a:prstGeom prst="roundRect">
            <a:avLst>
              <a:gd name="adj" fmla="val 8000"/>
            </a:avLst>
          </a:prstGeom>
          <a:solidFill>
            <a:srgbClr val="0B2545"/>
          </a:solidFill>
          <a:ln/>
        </p:spPr>
      </p:sp>
      <p:pic>
        <p:nvPicPr>
          <p:cNvPr id="16" name="Image 3" descr="/home/claude/icons/pivotchart.png"/>
          <p:cNvPicPr>
            <a:picLocks noChangeAspect="1"/>
          </p:cNvPicPr>
          <p:nvPr/>
        </p:nvPicPr>
        <p:blipFill>
          <a:blip r:embed="rId6"/>
          <a:stretch>
            <a:fillRect/>
          </a:stretch>
        </p:blipFill>
        <p:spPr>
          <a:xfrm>
            <a:off x="685800" y="4928616"/>
            <a:ext cx="457200" cy="457200"/>
          </a:xfrm>
          <a:prstGeom prst="rect">
            <a:avLst/>
          </a:prstGeom>
        </p:spPr>
      </p:pic>
      <p:sp>
        <p:nvSpPr>
          <p:cNvPr id="17" name="Text 11"/>
          <p:cNvSpPr/>
          <p:nvPr/>
        </p:nvSpPr>
        <p:spPr>
          <a:xfrm>
            <a:off x="1207008" y="4709160"/>
            <a:ext cx="1353312" cy="914400"/>
          </a:xfrm>
          <a:prstGeom prst="rect">
            <a:avLst/>
          </a:prstGeom>
          <a:noFill/>
          <a:ln/>
        </p:spPr>
        <p:txBody>
          <a:bodyPr wrap="square" rtlCol="0" anchor="ctr"/>
          <a:lstStyle/>
          <a:p>
            <a:pPr marL="0" indent="0">
              <a:lnSpc>
                <a:spcPts val="1300"/>
              </a:lnSpc>
              <a:buNone/>
            </a:pPr>
            <a:r>
              <a:rPr lang="en-US" sz="1150" b="1" dirty="0">
                <a:solidFill>
                  <a:srgbClr val="FFFFFF"/>
                </a:solidFill>
                <a:latin typeface="Calibri" pitchFamily="34" charset="0"/>
                <a:ea typeface="Calibri" pitchFamily="34" charset="-122"/>
                <a:cs typeface="Calibri" pitchFamily="34" charset="-120"/>
              </a:rPr>
              <a:t>PivotCharts</a:t>
            </a:r>
            <a:endParaRPr lang="en-US" sz="1150" dirty="0"/>
          </a:p>
        </p:txBody>
      </p:sp>
      <p:sp>
        <p:nvSpPr>
          <p:cNvPr id="18" name="Shape 12"/>
          <p:cNvSpPr/>
          <p:nvPr/>
        </p:nvSpPr>
        <p:spPr>
          <a:xfrm>
            <a:off x="2788920" y="4709160"/>
            <a:ext cx="2103120" cy="914400"/>
          </a:xfrm>
          <a:prstGeom prst="roundRect">
            <a:avLst>
              <a:gd name="adj" fmla="val 8000"/>
            </a:avLst>
          </a:prstGeom>
          <a:solidFill>
            <a:srgbClr val="0B2545"/>
          </a:solidFill>
          <a:ln/>
        </p:spPr>
      </p:sp>
      <p:pic>
        <p:nvPicPr>
          <p:cNvPr id="19" name="Image 4" descr="/home/claude/icons/slicers.png"/>
          <p:cNvPicPr>
            <a:picLocks noChangeAspect="1"/>
          </p:cNvPicPr>
          <p:nvPr/>
        </p:nvPicPr>
        <p:blipFill>
          <a:blip r:embed="rId7"/>
          <a:stretch>
            <a:fillRect/>
          </a:stretch>
        </p:blipFill>
        <p:spPr>
          <a:xfrm>
            <a:off x="2926080" y="4928616"/>
            <a:ext cx="457200" cy="457200"/>
          </a:xfrm>
          <a:prstGeom prst="rect">
            <a:avLst/>
          </a:prstGeom>
        </p:spPr>
      </p:pic>
      <p:sp>
        <p:nvSpPr>
          <p:cNvPr id="20" name="Text 13"/>
          <p:cNvSpPr/>
          <p:nvPr/>
        </p:nvSpPr>
        <p:spPr>
          <a:xfrm>
            <a:off x="3447288" y="4709160"/>
            <a:ext cx="1353312" cy="914400"/>
          </a:xfrm>
          <a:prstGeom prst="rect">
            <a:avLst/>
          </a:prstGeom>
          <a:noFill/>
          <a:ln/>
        </p:spPr>
        <p:txBody>
          <a:bodyPr wrap="square" rtlCol="0" anchor="ctr"/>
          <a:lstStyle/>
          <a:p>
            <a:pPr marL="0" indent="0">
              <a:lnSpc>
                <a:spcPts val="1300"/>
              </a:lnSpc>
              <a:buNone/>
            </a:pPr>
            <a:r>
              <a:rPr lang="en-US" sz="1150" b="1" dirty="0">
                <a:solidFill>
                  <a:srgbClr val="FFFFFF"/>
                </a:solidFill>
                <a:latin typeface="Calibri" pitchFamily="34" charset="0"/>
                <a:ea typeface="Calibri" pitchFamily="34" charset="-122"/>
                <a:cs typeface="Calibri" pitchFamily="34" charset="-120"/>
              </a:rPr>
              <a:t>Slicers</a:t>
            </a:r>
            <a:endParaRPr lang="en-US" sz="1150" dirty="0"/>
          </a:p>
        </p:txBody>
      </p:sp>
      <p:sp>
        <p:nvSpPr>
          <p:cNvPr id="21" name="Shape 14"/>
          <p:cNvSpPr/>
          <p:nvPr/>
        </p:nvSpPr>
        <p:spPr>
          <a:xfrm>
            <a:off x="5029200" y="4709160"/>
            <a:ext cx="2103120" cy="914400"/>
          </a:xfrm>
          <a:prstGeom prst="roundRect">
            <a:avLst>
              <a:gd name="adj" fmla="val 8000"/>
            </a:avLst>
          </a:prstGeom>
          <a:solidFill>
            <a:srgbClr val="0B2545"/>
          </a:solidFill>
          <a:ln/>
        </p:spPr>
      </p:sp>
      <p:pic>
        <p:nvPicPr>
          <p:cNvPr id="22" name="Image 5" descr="/home/claude/icons/formulas.png"/>
          <p:cNvPicPr>
            <a:picLocks noChangeAspect="1"/>
          </p:cNvPicPr>
          <p:nvPr/>
        </p:nvPicPr>
        <p:blipFill>
          <a:blip r:embed="rId8"/>
          <a:stretch>
            <a:fillRect/>
          </a:stretch>
        </p:blipFill>
        <p:spPr>
          <a:xfrm>
            <a:off x="5166360" y="4928616"/>
            <a:ext cx="457200" cy="457200"/>
          </a:xfrm>
          <a:prstGeom prst="rect">
            <a:avLst/>
          </a:prstGeom>
        </p:spPr>
      </p:pic>
      <p:sp>
        <p:nvSpPr>
          <p:cNvPr id="23" name="Text 15"/>
          <p:cNvSpPr/>
          <p:nvPr/>
        </p:nvSpPr>
        <p:spPr>
          <a:xfrm>
            <a:off x="5687568" y="4709160"/>
            <a:ext cx="1353312" cy="914400"/>
          </a:xfrm>
          <a:prstGeom prst="rect">
            <a:avLst/>
          </a:prstGeom>
          <a:noFill/>
          <a:ln/>
        </p:spPr>
        <p:txBody>
          <a:bodyPr wrap="square" rtlCol="0" anchor="ctr"/>
          <a:lstStyle/>
          <a:p>
            <a:pPr marL="0" indent="0">
              <a:lnSpc>
                <a:spcPts val="1300"/>
              </a:lnSpc>
              <a:buNone/>
            </a:pPr>
            <a:r>
              <a:rPr lang="en-US" sz="1150" b="1" dirty="0">
                <a:solidFill>
                  <a:srgbClr val="FFFFFF"/>
                </a:solidFill>
                <a:latin typeface="Calibri" pitchFamily="34" charset="0"/>
                <a:ea typeface="Calibri" pitchFamily="34" charset="-122"/>
                <a:cs typeface="Calibri" pitchFamily="34" charset="-120"/>
              </a:rPr>
              <a:t>Formulas &amp; KPIs</a:t>
            </a:r>
            <a:endParaRPr lang="en-US" sz="1150" dirty="0"/>
          </a:p>
        </p:txBody>
      </p:sp>
      <p:sp>
        <p:nvSpPr>
          <p:cNvPr id="26" name="Text 17"/>
          <p:cNvSpPr/>
          <p:nvPr/>
        </p:nvSpPr>
        <p:spPr>
          <a:xfrm>
            <a:off x="7818120" y="5989320"/>
            <a:ext cx="3657600" cy="274320"/>
          </a:xfrm>
          <a:prstGeom prst="rect">
            <a:avLst/>
          </a:prstGeom>
          <a:noFill/>
          <a:ln/>
        </p:spPr>
        <p:txBody>
          <a:bodyPr wrap="square" rtlCol="0" anchor="ctr"/>
          <a:lstStyle/>
          <a:p>
            <a:pPr marL="0" indent="0" algn="ctr">
              <a:buNone/>
            </a:pPr>
            <a:r>
              <a:rPr lang="en-US" sz="1000" i="1" dirty="0">
                <a:solidFill>
                  <a:srgbClr val="5C6B7A"/>
                </a:solidFill>
                <a:latin typeface="Calibri" pitchFamily="34" charset="0"/>
                <a:ea typeface="Calibri" pitchFamily="34" charset="-122"/>
                <a:cs typeface="Calibri" pitchFamily="34" charset="-120"/>
              </a:rPr>
              <a:t>Final Interactive Dashboard</a:t>
            </a:r>
            <a:endParaRPr lang="en-US" sz="1000" dirty="0"/>
          </a:p>
        </p:txBody>
      </p:sp>
      <p:sp>
        <p:nvSpPr>
          <p:cNvPr id="27" name="Text 18"/>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28" name="Text 19"/>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7"/>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02  ·  BUSINESS CONTEXT</a:t>
            </a:r>
            <a:endParaRPr lang="en-US" sz="125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rPr>
              <a:t>Project Objective &amp; Analysis Goals</a:t>
            </a:r>
            <a:endParaRPr lang="en-US" sz="3000" dirty="0"/>
          </a:p>
        </p:txBody>
      </p:sp>
      <p:sp>
        <p:nvSpPr>
          <p:cNvPr id="4" name="Shape 2"/>
          <p:cNvSpPr/>
          <p:nvPr/>
        </p:nvSpPr>
        <p:spPr>
          <a:xfrm>
            <a:off x="548640" y="1600200"/>
            <a:ext cx="5349240" cy="4434840"/>
          </a:xfrm>
          <a:prstGeom prst="roundRect">
            <a:avLst>
              <a:gd name="adj" fmla="val 1443"/>
            </a:avLst>
          </a:prstGeom>
          <a:solidFill>
            <a:srgbClr val="FFFFFF"/>
          </a:solidFill>
          <a:ln w="12700">
            <a:solidFill>
              <a:srgbClr val="DCE3E8"/>
            </a:solidFill>
            <a:prstDash val="solid"/>
          </a:ln>
        </p:spPr>
      </p:sp>
      <p:sp>
        <p:nvSpPr>
          <p:cNvPr id="5" name="Shape 3"/>
          <p:cNvSpPr/>
          <p:nvPr/>
        </p:nvSpPr>
        <p:spPr>
          <a:xfrm>
            <a:off x="548640" y="1600200"/>
            <a:ext cx="5349240" cy="685800"/>
          </a:xfrm>
          <a:prstGeom prst="rect">
            <a:avLst/>
          </a:prstGeom>
          <a:solidFill>
            <a:srgbClr val="0B2545"/>
          </a:solidFill>
          <a:ln/>
        </p:spPr>
        <p:txBody>
          <a:bodyPr/>
          <a:lstStyle/>
          <a:p>
            <a:endParaRPr lang="en-US" dirty="0"/>
          </a:p>
        </p:txBody>
      </p:sp>
      <p:sp>
        <p:nvSpPr>
          <p:cNvPr id="6" name="Text 4"/>
          <p:cNvSpPr/>
          <p:nvPr/>
        </p:nvSpPr>
        <p:spPr>
          <a:xfrm>
            <a:off x="822960" y="1600200"/>
            <a:ext cx="4800600" cy="6858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rPr>
              <a:t>Project Objective</a:t>
            </a:r>
            <a:endParaRPr lang="en-US" sz="1700" dirty="0"/>
          </a:p>
        </p:txBody>
      </p:sp>
      <p:sp>
        <p:nvSpPr>
          <p:cNvPr id="7" name="Text 5"/>
          <p:cNvSpPr/>
          <p:nvPr/>
        </p:nvSpPr>
        <p:spPr>
          <a:xfrm>
            <a:off x="868680" y="2302378"/>
            <a:ext cx="4709160" cy="3458342"/>
          </a:xfrm>
          <a:prstGeom prst="rect">
            <a:avLst/>
          </a:prstGeom>
          <a:noFill/>
          <a:ln/>
        </p:spPr>
        <p:txBody>
          <a:bodyPr wrap="square" rtlCol="0" anchor="ctr"/>
          <a:lstStyle/>
          <a:p>
            <a:pPr>
              <a:lnSpc>
                <a:spcPts val="2200"/>
              </a:lnSpc>
            </a:pPr>
            <a:r>
              <a:rPr lang="en-US" sz="1400" dirty="0"/>
              <a:t>The objective of this project is to analyze a historical bank loan application dataset and uncover meaningful patterns related to loan approval decisions. Using Microsoft Excel and Power Query, the data was cleaned, transformed, and visualized through an interactive dashboard.</a:t>
            </a:r>
            <a:endParaRPr lang="en-US" sz="1300" dirty="0"/>
          </a:p>
        </p:txBody>
      </p:sp>
      <p:sp>
        <p:nvSpPr>
          <p:cNvPr id="8" name="Shape 6"/>
          <p:cNvSpPr/>
          <p:nvPr/>
        </p:nvSpPr>
        <p:spPr>
          <a:xfrm>
            <a:off x="6172200" y="2286000"/>
            <a:ext cx="5349240" cy="4434840"/>
          </a:xfrm>
          <a:prstGeom prst="roundRect">
            <a:avLst>
              <a:gd name="adj" fmla="val 1443"/>
            </a:avLst>
          </a:prstGeom>
          <a:solidFill>
            <a:srgbClr val="FFFFFF"/>
          </a:solidFill>
          <a:ln w="12700">
            <a:solidFill>
              <a:srgbClr val="DCE3E8"/>
            </a:solidFill>
            <a:prstDash val="solid"/>
          </a:ln>
        </p:spPr>
        <p:txBody>
          <a:bodyPr/>
          <a:lstStyle/>
          <a:p>
            <a:endParaRPr lang="en-US" dirty="0"/>
          </a:p>
        </p:txBody>
      </p:sp>
      <p:sp>
        <p:nvSpPr>
          <p:cNvPr id="9" name="Shape 7"/>
          <p:cNvSpPr/>
          <p:nvPr/>
        </p:nvSpPr>
        <p:spPr>
          <a:xfrm>
            <a:off x="6172200" y="1600200"/>
            <a:ext cx="5349240" cy="685800"/>
          </a:xfrm>
          <a:prstGeom prst="rect">
            <a:avLst/>
          </a:prstGeom>
          <a:solidFill>
            <a:srgbClr val="1C7293"/>
          </a:solidFill>
          <a:ln/>
        </p:spPr>
      </p:sp>
      <p:sp>
        <p:nvSpPr>
          <p:cNvPr id="10" name="Text 8"/>
          <p:cNvSpPr/>
          <p:nvPr/>
        </p:nvSpPr>
        <p:spPr>
          <a:xfrm>
            <a:off x="6446520" y="1600200"/>
            <a:ext cx="4800600" cy="6858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rPr>
              <a:t>Analysis Goals</a:t>
            </a:r>
            <a:endParaRPr lang="en-US" sz="1700" dirty="0"/>
          </a:p>
        </p:txBody>
      </p:sp>
      <p:sp>
        <p:nvSpPr>
          <p:cNvPr id="11" name="Shape 9"/>
          <p:cNvSpPr/>
          <p:nvPr/>
        </p:nvSpPr>
        <p:spPr>
          <a:xfrm>
            <a:off x="6446520" y="2606040"/>
            <a:ext cx="128016" cy="128016"/>
          </a:xfrm>
          <a:prstGeom prst="ellipse">
            <a:avLst/>
          </a:prstGeom>
          <a:solidFill>
            <a:srgbClr val="02C39A"/>
          </a:solidFill>
          <a:ln/>
        </p:spPr>
        <p:txBody>
          <a:bodyPr/>
          <a:lstStyle/>
          <a:p>
            <a:r>
              <a:rPr lang="en-US" dirty="0"/>
              <a:t>`</a:t>
            </a:r>
          </a:p>
        </p:txBody>
      </p:sp>
      <p:sp>
        <p:nvSpPr>
          <p:cNvPr id="12" name="Text 10"/>
          <p:cNvSpPr/>
          <p:nvPr/>
        </p:nvSpPr>
        <p:spPr>
          <a:xfrm>
            <a:off x="6739128" y="2302378"/>
            <a:ext cx="4480560" cy="685800"/>
          </a:xfrm>
          <a:prstGeom prst="rect">
            <a:avLst/>
          </a:prstGeom>
          <a:noFill/>
          <a:ln/>
        </p:spPr>
        <p:txBody>
          <a:bodyPr wrap="square" rtlCol="0" anchor="ctr"/>
          <a:lstStyle/>
          <a:p>
            <a:pPr>
              <a:lnSpc>
                <a:spcPts val="1700"/>
              </a:lnSpc>
            </a:pPr>
            <a:r>
              <a:rPr lang="en-US" sz="1400" dirty="0"/>
              <a:t>Measure overall loan approval performance</a:t>
            </a:r>
            <a:endParaRPr lang="en-US" sz="1250" dirty="0"/>
          </a:p>
        </p:txBody>
      </p:sp>
      <p:sp>
        <p:nvSpPr>
          <p:cNvPr id="13" name="Shape 11"/>
          <p:cNvSpPr/>
          <p:nvPr/>
        </p:nvSpPr>
        <p:spPr>
          <a:xfrm>
            <a:off x="6446520" y="3127653"/>
            <a:ext cx="128016" cy="128016"/>
          </a:xfrm>
          <a:prstGeom prst="ellipse">
            <a:avLst/>
          </a:prstGeom>
          <a:solidFill>
            <a:srgbClr val="02C39A"/>
          </a:solidFill>
          <a:ln/>
        </p:spPr>
      </p:sp>
      <p:sp>
        <p:nvSpPr>
          <p:cNvPr id="14" name="Text 12"/>
          <p:cNvSpPr/>
          <p:nvPr/>
        </p:nvSpPr>
        <p:spPr>
          <a:xfrm>
            <a:off x="6739128" y="2909181"/>
            <a:ext cx="4480560" cy="685800"/>
          </a:xfrm>
          <a:prstGeom prst="rect">
            <a:avLst/>
          </a:prstGeom>
          <a:noFill/>
          <a:ln/>
        </p:spPr>
        <p:txBody>
          <a:bodyPr wrap="square" rtlCol="0" anchor="ctr"/>
          <a:lstStyle/>
          <a:p>
            <a:pPr>
              <a:lnSpc>
                <a:spcPts val="1700"/>
              </a:lnSpc>
            </a:pPr>
            <a:r>
              <a:rPr lang="en-US" sz="1400" dirty="0"/>
              <a:t>Compare approvals across gender, education, and dependents</a:t>
            </a:r>
            <a:endParaRPr lang="en-US" sz="1250" dirty="0"/>
          </a:p>
        </p:txBody>
      </p:sp>
      <p:sp>
        <p:nvSpPr>
          <p:cNvPr id="15" name="Shape 13"/>
          <p:cNvSpPr/>
          <p:nvPr/>
        </p:nvSpPr>
        <p:spPr>
          <a:xfrm>
            <a:off x="6446520" y="3682051"/>
            <a:ext cx="128016" cy="128016"/>
          </a:xfrm>
          <a:prstGeom prst="ellipse">
            <a:avLst/>
          </a:prstGeom>
          <a:solidFill>
            <a:srgbClr val="02C39A"/>
          </a:solidFill>
          <a:ln/>
        </p:spPr>
        <p:txBody>
          <a:bodyPr/>
          <a:lstStyle/>
          <a:p>
            <a:endParaRPr lang="en-US" dirty="0"/>
          </a:p>
        </p:txBody>
      </p:sp>
      <p:sp>
        <p:nvSpPr>
          <p:cNvPr id="16" name="Text 14"/>
          <p:cNvSpPr/>
          <p:nvPr/>
        </p:nvSpPr>
        <p:spPr>
          <a:xfrm>
            <a:off x="6739128" y="3511296"/>
            <a:ext cx="3955880" cy="685800"/>
          </a:xfrm>
          <a:prstGeom prst="rect">
            <a:avLst/>
          </a:prstGeom>
          <a:noFill/>
          <a:ln/>
        </p:spPr>
        <p:txBody>
          <a:bodyPr wrap="square" rtlCol="0" anchor="ctr"/>
          <a:lstStyle/>
          <a:p>
            <a:pPr>
              <a:lnSpc>
                <a:spcPts val="1700"/>
              </a:lnSpc>
            </a:pPr>
            <a:r>
              <a:rPr lang="en-US" sz="1400" dirty="0"/>
              <a:t>Analyze the impact of credit history on loan approval</a:t>
            </a:r>
            <a:endParaRPr lang="en-US" sz="1250" dirty="0"/>
          </a:p>
        </p:txBody>
      </p:sp>
      <p:sp>
        <p:nvSpPr>
          <p:cNvPr id="17" name="Shape 15"/>
          <p:cNvSpPr/>
          <p:nvPr/>
        </p:nvSpPr>
        <p:spPr>
          <a:xfrm flipV="1">
            <a:off x="6446520" y="4292327"/>
            <a:ext cx="128016" cy="128016"/>
          </a:xfrm>
          <a:prstGeom prst="ellipse">
            <a:avLst/>
          </a:prstGeom>
          <a:solidFill>
            <a:srgbClr val="02C39A"/>
          </a:solidFill>
          <a:ln/>
        </p:spPr>
        <p:txBody>
          <a:bodyPr/>
          <a:lstStyle/>
          <a:p>
            <a:endParaRPr lang="en-US" dirty="0"/>
          </a:p>
        </p:txBody>
      </p:sp>
      <p:sp>
        <p:nvSpPr>
          <p:cNvPr id="18" name="Text 16"/>
          <p:cNvSpPr/>
          <p:nvPr/>
        </p:nvSpPr>
        <p:spPr>
          <a:xfrm>
            <a:off x="6739128" y="4230489"/>
            <a:ext cx="3840133" cy="489725"/>
          </a:xfrm>
          <a:prstGeom prst="rect">
            <a:avLst/>
          </a:prstGeom>
          <a:noFill/>
          <a:ln/>
        </p:spPr>
        <p:txBody>
          <a:bodyPr wrap="square" rtlCol="0" anchor="ctr"/>
          <a:lstStyle/>
          <a:p>
            <a:pPr>
              <a:lnSpc>
                <a:spcPts val="1700"/>
              </a:lnSpc>
            </a:pPr>
            <a:r>
              <a:rPr lang="en-US" sz="1400" dirty="0"/>
              <a:t>Examine regional loan distribution across property areas</a:t>
            </a:r>
            <a:endParaRPr lang="en-US" sz="1250" dirty="0"/>
          </a:p>
        </p:txBody>
      </p:sp>
      <p:sp>
        <p:nvSpPr>
          <p:cNvPr id="19" name="Text 17"/>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20" name="Text 1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
        <p:nvSpPr>
          <p:cNvPr id="23" name="Text 14">
            <a:extLst>
              <a:ext uri="{FF2B5EF4-FFF2-40B4-BE49-F238E27FC236}">
                <a16:creationId xmlns:a16="http://schemas.microsoft.com/office/drawing/2014/main" id="{4A5A78EC-DDE8-04F9-499C-6A84E78819F1}"/>
              </a:ext>
            </a:extLst>
          </p:cNvPr>
          <p:cNvSpPr/>
          <p:nvPr/>
        </p:nvSpPr>
        <p:spPr>
          <a:xfrm>
            <a:off x="6711696" y="4711334"/>
            <a:ext cx="4507992" cy="685800"/>
          </a:xfrm>
          <a:prstGeom prst="rect">
            <a:avLst/>
          </a:prstGeom>
          <a:noFill/>
          <a:ln/>
        </p:spPr>
        <p:txBody>
          <a:bodyPr wrap="square" rtlCol="0" anchor="ctr"/>
          <a:lstStyle/>
          <a:p>
            <a:pPr>
              <a:lnSpc>
                <a:spcPts val="1700"/>
              </a:lnSpc>
            </a:pPr>
            <a:r>
              <a:rPr lang="en-US" sz="1400" dirty="0"/>
              <a:t>Build an interactive dashboard that enables quick, data-driven exploration of the dataset</a:t>
            </a:r>
            <a:endParaRPr lang="en-US" sz="1250" dirty="0"/>
          </a:p>
        </p:txBody>
      </p:sp>
      <p:sp>
        <p:nvSpPr>
          <p:cNvPr id="25" name="Shape 15">
            <a:extLst>
              <a:ext uri="{FF2B5EF4-FFF2-40B4-BE49-F238E27FC236}">
                <a16:creationId xmlns:a16="http://schemas.microsoft.com/office/drawing/2014/main" id="{0EA1BEA0-15E0-F2E0-69F0-EC35FA98CF74}"/>
              </a:ext>
            </a:extLst>
          </p:cNvPr>
          <p:cNvSpPr/>
          <p:nvPr/>
        </p:nvSpPr>
        <p:spPr>
          <a:xfrm flipV="1">
            <a:off x="6446520" y="4896307"/>
            <a:ext cx="128016" cy="128016"/>
          </a:xfrm>
          <a:prstGeom prst="ellipse">
            <a:avLst/>
          </a:prstGeom>
          <a:solidFill>
            <a:srgbClr val="02C39A"/>
          </a:solidFill>
          <a:ln/>
        </p:spPr>
        <p:txBody>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7"/>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03  ·  DATA FOUNDATION</a:t>
            </a:r>
            <a:endParaRPr lang="en-US" sz="125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Dataset Description</a:t>
            </a:r>
            <a:endParaRPr lang="en-US" sz="3000" dirty="0"/>
          </a:p>
        </p:txBody>
      </p:sp>
      <p:sp>
        <p:nvSpPr>
          <p:cNvPr id="4" name="Text 2"/>
          <p:cNvSpPr/>
          <p:nvPr/>
        </p:nvSpPr>
        <p:spPr>
          <a:xfrm>
            <a:off x="548640" y="1463040"/>
            <a:ext cx="10881360" cy="548640"/>
          </a:xfrm>
          <a:prstGeom prst="rect">
            <a:avLst/>
          </a:prstGeom>
          <a:noFill/>
          <a:ln/>
        </p:spPr>
        <p:txBody>
          <a:bodyPr wrap="square" rtlCol="0" anchor="ctr"/>
          <a:lstStyle/>
          <a:p>
            <a:pPr marL="0" indent="0">
              <a:lnSpc>
                <a:spcPts val="1800"/>
              </a:lnSpc>
              <a:buNone/>
            </a:pPr>
            <a:r>
              <a:rPr lang="en-US" sz="1300" dirty="0">
                <a:solidFill>
                  <a:srgbClr val="16222E"/>
                </a:solidFill>
                <a:latin typeface="Calibri" pitchFamily="34" charset="0"/>
                <a:ea typeface="Calibri" pitchFamily="34" charset="-122"/>
                <a:cs typeface="Calibri" pitchFamily="34" charset="-120"/>
              </a:rPr>
              <a:t>The dataset contains 1,000 individual bank loan applications, each capturing applicant demographics, financial standing, and the final loan decision. Key fields used in the analysis:</a:t>
            </a:r>
            <a:endParaRPr lang="en-US" sz="1300" dirty="0"/>
          </a:p>
        </p:txBody>
      </p:sp>
      <p:sp>
        <p:nvSpPr>
          <p:cNvPr id="5" name="Shape 3"/>
          <p:cNvSpPr/>
          <p:nvPr/>
        </p:nvSpPr>
        <p:spPr>
          <a:xfrm>
            <a:off x="548640" y="2148840"/>
            <a:ext cx="5349240" cy="932688"/>
          </a:xfrm>
          <a:prstGeom prst="roundRect">
            <a:avLst>
              <a:gd name="adj" fmla="val 5882"/>
            </a:avLst>
          </a:prstGeom>
          <a:solidFill>
            <a:srgbClr val="FFFFFF"/>
          </a:solidFill>
          <a:ln w="12700">
            <a:solidFill>
              <a:srgbClr val="DCE3E8"/>
            </a:solidFill>
            <a:prstDash val="solid"/>
          </a:ln>
        </p:spPr>
      </p:sp>
      <p:sp>
        <p:nvSpPr>
          <p:cNvPr id="6" name="Shape 4"/>
          <p:cNvSpPr/>
          <p:nvPr/>
        </p:nvSpPr>
        <p:spPr>
          <a:xfrm>
            <a:off x="548640" y="2148840"/>
            <a:ext cx="82296" cy="932688"/>
          </a:xfrm>
          <a:prstGeom prst="rect">
            <a:avLst/>
          </a:prstGeom>
          <a:solidFill>
            <a:srgbClr val="1C7293"/>
          </a:solidFill>
          <a:ln/>
        </p:spPr>
      </p:sp>
      <p:sp>
        <p:nvSpPr>
          <p:cNvPr id="7" name="Text 5"/>
          <p:cNvSpPr/>
          <p:nvPr/>
        </p:nvSpPr>
        <p:spPr>
          <a:xfrm>
            <a:off x="822960" y="2221992"/>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Gender</a:t>
            </a:r>
            <a:endParaRPr lang="en-US" sz="1250" dirty="0"/>
          </a:p>
        </p:txBody>
      </p:sp>
      <p:sp>
        <p:nvSpPr>
          <p:cNvPr id="8" name="Text 6"/>
          <p:cNvSpPr/>
          <p:nvPr/>
        </p:nvSpPr>
        <p:spPr>
          <a:xfrm>
            <a:off x="822960" y="2551176"/>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Applicant gender — Male / Female</a:t>
            </a:r>
            <a:endParaRPr lang="en-US" sz="1100" dirty="0"/>
          </a:p>
        </p:txBody>
      </p:sp>
      <p:sp>
        <p:nvSpPr>
          <p:cNvPr id="9" name="Shape 7"/>
          <p:cNvSpPr/>
          <p:nvPr/>
        </p:nvSpPr>
        <p:spPr>
          <a:xfrm>
            <a:off x="6172200" y="2148840"/>
            <a:ext cx="5349240" cy="932688"/>
          </a:xfrm>
          <a:prstGeom prst="roundRect">
            <a:avLst>
              <a:gd name="adj" fmla="val 5882"/>
            </a:avLst>
          </a:prstGeom>
          <a:solidFill>
            <a:srgbClr val="FFFFFF"/>
          </a:solidFill>
          <a:ln w="12700">
            <a:solidFill>
              <a:srgbClr val="DCE3E8"/>
            </a:solidFill>
            <a:prstDash val="solid"/>
          </a:ln>
        </p:spPr>
      </p:sp>
      <p:sp>
        <p:nvSpPr>
          <p:cNvPr id="10" name="Shape 8"/>
          <p:cNvSpPr/>
          <p:nvPr/>
        </p:nvSpPr>
        <p:spPr>
          <a:xfrm>
            <a:off x="6172200" y="2148840"/>
            <a:ext cx="82296" cy="932688"/>
          </a:xfrm>
          <a:prstGeom prst="rect">
            <a:avLst/>
          </a:prstGeom>
          <a:solidFill>
            <a:srgbClr val="1C7293"/>
          </a:solidFill>
          <a:ln/>
        </p:spPr>
      </p:sp>
      <p:sp>
        <p:nvSpPr>
          <p:cNvPr id="11" name="Text 9"/>
          <p:cNvSpPr/>
          <p:nvPr/>
        </p:nvSpPr>
        <p:spPr>
          <a:xfrm>
            <a:off x="6446520" y="2221992"/>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Education</a:t>
            </a:r>
            <a:endParaRPr lang="en-US" sz="1250" dirty="0"/>
          </a:p>
        </p:txBody>
      </p:sp>
      <p:sp>
        <p:nvSpPr>
          <p:cNvPr id="12" name="Text 10"/>
          <p:cNvSpPr/>
          <p:nvPr/>
        </p:nvSpPr>
        <p:spPr>
          <a:xfrm>
            <a:off x="6446520" y="2551176"/>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Graduate / Not Graduate</a:t>
            </a:r>
            <a:endParaRPr lang="en-US" sz="1100" dirty="0"/>
          </a:p>
        </p:txBody>
      </p:sp>
      <p:sp>
        <p:nvSpPr>
          <p:cNvPr id="13" name="Shape 11"/>
          <p:cNvSpPr/>
          <p:nvPr/>
        </p:nvSpPr>
        <p:spPr>
          <a:xfrm>
            <a:off x="548640" y="3218688"/>
            <a:ext cx="5349240" cy="932688"/>
          </a:xfrm>
          <a:prstGeom prst="roundRect">
            <a:avLst>
              <a:gd name="adj" fmla="val 5882"/>
            </a:avLst>
          </a:prstGeom>
          <a:solidFill>
            <a:srgbClr val="FFFFFF"/>
          </a:solidFill>
          <a:ln w="12700">
            <a:solidFill>
              <a:srgbClr val="DCE3E8"/>
            </a:solidFill>
            <a:prstDash val="solid"/>
          </a:ln>
        </p:spPr>
      </p:sp>
      <p:sp>
        <p:nvSpPr>
          <p:cNvPr id="14" name="Shape 12"/>
          <p:cNvSpPr/>
          <p:nvPr/>
        </p:nvSpPr>
        <p:spPr>
          <a:xfrm>
            <a:off x="548640" y="3218688"/>
            <a:ext cx="82296" cy="932688"/>
          </a:xfrm>
          <a:prstGeom prst="rect">
            <a:avLst/>
          </a:prstGeom>
          <a:solidFill>
            <a:srgbClr val="1C7293"/>
          </a:solidFill>
          <a:ln/>
        </p:spPr>
      </p:sp>
      <p:sp>
        <p:nvSpPr>
          <p:cNvPr id="15" name="Text 13"/>
          <p:cNvSpPr/>
          <p:nvPr/>
        </p:nvSpPr>
        <p:spPr>
          <a:xfrm>
            <a:off x="822960" y="3291840"/>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Credit History</a:t>
            </a:r>
            <a:endParaRPr lang="en-US" sz="1250" dirty="0"/>
          </a:p>
        </p:txBody>
      </p:sp>
      <p:sp>
        <p:nvSpPr>
          <p:cNvPr id="16" name="Text 14"/>
          <p:cNvSpPr/>
          <p:nvPr/>
        </p:nvSpPr>
        <p:spPr>
          <a:xfrm>
            <a:off x="822960" y="3621024"/>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Meets credit guidelines — 1 (Good) / 0 (Poor)</a:t>
            </a:r>
            <a:endParaRPr lang="en-US" sz="1100" dirty="0"/>
          </a:p>
        </p:txBody>
      </p:sp>
      <p:sp>
        <p:nvSpPr>
          <p:cNvPr id="17" name="Shape 15"/>
          <p:cNvSpPr/>
          <p:nvPr/>
        </p:nvSpPr>
        <p:spPr>
          <a:xfrm>
            <a:off x="6172200" y="3218688"/>
            <a:ext cx="5349240" cy="932688"/>
          </a:xfrm>
          <a:prstGeom prst="roundRect">
            <a:avLst>
              <a:gd name="adj" fmla="val 5882"/>
            </a:avLst>
          </a:prstGeom>
          <a:solidFill>
            <a:srgbClr val="FFFFFF"/>
          </a:solidFill>
          <a:ln w="12700">
            <a:solidFill>
              <a:srgbClr val="DCE3E8"/>
            </a:solidFill>
            <a:prstDash val="solid"/>
          </a:ln>
        </p:spPr>
      </p:sp>
      <p:sp>
        <p:nvSpPr>
          <p:cNvPr id="18" name="Shape 16"/>
          <p:cNvSpPr/>
          <p:nvPr/>
        </p:nvSpPr>
        <p:spPr>
          <a:xfrm>
            <a:off x="6172200" y="3218688"/>
            <a:ext cx="82296" cy="932688"/>
          </a:xfrm>
          <a:prstGeom prst="rect">
            <a:avLst/>
          </a:prstGeom>
          <a:solidFill>
            <a:srgbClr val="1C7293"/>
          </a:solidFill>
          <a:ln/>
        </p:spPr>
      </p:sp>
      <p:sp>
        <p:nvSpPr>
          <p:cNvPr id="19" name="Text 17"/>
          <p:cNvSpPr/>
          <p:nvPr/>
        </p:nvSpPr>
        <p:spPr>
          <a:xfrm>
            <a:off x="6446520" y="3291840"/>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Property Area</a:t>
            </a:r>
            <a:endParaRPr lang="en-US" sz="1250" dirty="0"/>
          </a:p>
        </p:txBody>
      </p:sp>
      <p:sp>
        <p:nvSpPr>
          <p:cNvPr id="20" name="Text 18"/>
          <p:cNvSpPr/>
          <p:nvPr/>
        </p:nvSpPr>
        <p:spPr>
          <a:xfrm>
            <a:off x="6446520" y="3621024"/>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Urban / Semiurban / Rural</a:t>
            </a:r>
            <a:endParaRPr lang="en-US" sz="1100" dirty="0"/>
          </a:p>
        </p:txBody>
      </p:sp>
      <p:sp>
        <p:nvSpPr>
          <p:cNvPr id="21" name="Shape 19"/>
          <p:cNvSpPr/>
          <p:nvPr/>
        </p:nvSpPr>
        <p:spPr>
          <a:xfrm>
            <a:off x="548640" y="4288536"/>
            <a:ext cx="5349240" cy="932688"/>
          </a:xfrm>
          <a:prstGeom prst="roundRect">
            <a:avLst>
              <a:gd name="adj" fmla="val 5882"/>
            </a:avLst>
          </a:prstGeom>
          <a:solidFill>
            <a:srgbClr val="FFFFFF"/>
          </a:solidFill>
          <a:ln w="12700">
            <a:solidFill>
              <a:srgbClr val="DCE3E8"/>
            </a:solidFill>
            <a:prstDash val="solid"/>
          </a:ln>
        </p:spPr>
      </p:sp>
      <p:sp>
        <p:nvSpPr>
          <p:cNvPr id="22" name="Shape 20"/>
          <p:cNvSpPr/>
          <p:nvPr/>
        </p:nvSpPr>
        <p:spPr>
          <a:xfrm>
            <a:off x="548640" y="4288536"/>
            <a:ext cx="82296" cy="932688"/>
          </a:xfrm>
          <a:prstGeom prst="rect">
            <a:avLst/>
          </a:prstGeom>
          <a:solidFill>
            <a:srgbClr val="1C7293"/>
          </a:solidFill>
          <a:ln/>
        </p:spPr>
      </p:sp>
      <p:sp>
        <p:nvSpPr>
          <p:cNvPr id="23" name="Text 21"/>
          <p:cNvSpPr/>
          <p:nvPr/>
        </p:nvSpPr>
        <p:spPr>
          <a:xfrm>
            <a:off x="822960" y="4361688"/>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Loan Status</a:t>
            </a:r>
            <a:endParaRPr lang="en-US" sz="1250" dirty="0"/>
          </a:p>
        </p:txBody>
      </p:sp>
      <p:sp>
        <p:nvSpPr>
          <p:cNvPr id="24" name="Text 22"/>
          <p:cNvSpPr/>
          <p:nvPr/>
        </p:nvSpPr>
        <p:spPr>
          <a:xfrm>
            <a:off x="822960" y="4690872"/>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Final decision — Approved / Rejected</a:t>
            </a:r>
            <a:endParaRPr lang="en-US" sz="1100" dirty="0"/>
          </a:p>
        </p:txBody>
      </p:sp>
      <p:sp>
        <p:nvSpPr>
          <p:cNvPr id="25" name="Shape 23"/>
          <p:cNvSpPr/>
          <p:nvPr/>
        </p:nvSpPr>
        <p:spPr>
          <a:xfrm>
            <a:off x="6172200" y="4288536"/>
            <a:ext cx="5349240" cy="932688"/>
          </a:xfrm>
          <a:prstGeom prst="roundRect">
            <a:avLst>
              <a:gd name="adj" fmla="val 5882"/>
            </a:avLst>
          </a:prstGeom>
          <a:solidFill>
            <a:srgbClr val="FFFFFF"/>
          </a:solidFill>
          <a:ln w="12700">
            <a:solidFill>
              <a:srgbClr val="DCE3E8"/>
            </a:solidFill>
            <a:prstDash val="solid"/>
          </a:ln>
        </p:spPr>
      </p:sp>
      <p:sp>
        <p:nvSpPr>
          <p:cNvPr id="26" name="Shape 24"/>
          <p:cNvSpPr/>
          <p:nvPr/>
        </p:nvSpPr>
        <p:spPr>
          <a:xfrm>
            <a:off x="6172200" y="4288536"/>
            <a:ext cx="82296" cy="932688"/>
          </a:xfrm>
          <a:prstGeom prst="rect">
            <a:avLst/>
          </a:prstGeom>
          <a:solidFill>
            <a:srgbClr val="1C7293"/>
          </a:solidFill>
          <a:ln/>
        </p:spPr>
      </p:sp>
      <p:sp>
        <p:nvSpPr>
          <p:cNvPr id="27" name="Text 25"/>
          <p:cNvSpPr/>
          <p:nvPr/>
        </p:nvSpPr>
        <p:spPr>
          <a:xfrm>
            <a:off x="6446520" y="4361688"/>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Loan Amount</a:t>
            </a:r>
            <a:endParaRPr lang="en-US" sz="1250" dirty="0"/>
          </a:p>
        </p:txBody>
      </p:sp>
      <p:sp>
        <p:nvSpPr>
          <p:cNvPr id="28" name="Text 26"/>
          <p:cNvSpPr/>
          <p:nvPr/>
        </p:nvSpPr>
        <p:spPr>
          <a:xfrm>
            <a:off x="6446520" y="4690872"/>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Sanctioned loan amount (₹, in thousands)</a:t>
            </a:r>
            <a:endParaRPr lang="en-US" sz="1100" dirty="0"/>
          </a:p>
        </p:txBody>
      </p:sp>
      <p:sp>
        <p:nvSpPr>
          <p:cNvPr id="29" name="Shape 27"/>
          <p:cNvSpPr/>
          <p:nvPr/>
        </p:nvSpPr>
        <p:spPr>
          <a:xfrm>
            <a:off x="548640" y="5358384"/>
            <a:ext cx="5349240" cy="932688"/>
          </a:xfrm>
          <a:prstGeom prst="roundRect">
            <a:avLst>
              <a:gd name="adj" fmla="val 5882"/>
            </a:avLst>
          </a:prstGeom>
          <a:solidFill>
            <a:srgbClr val="FFFFFF"/>
          </a:solidFill>
          <a:ln w="12700">
            <a:solidFill>
              <a:srgbClr val="DCE3E8"/>
            </a:solidFill>
            <a:prstDash val="solid"/>
          </a:ln>
        </p:spPr>
      </p:sp>
      <p:sp>
        <p:nvSpPr>
          <p:cNvPr id="30" name="Shape 28"/>
          <p:cNvSpPr/>
          <p:nvPr/>
        </p:nvSpPr>
        <p:spPr>
          <a:xfrm>
            <a:off x="548640" y="5358384"/>
            <a:ext cx="82296" cy="932688"/>
          </a:xfrm>
          <a:prstGeom prst="rect">
            <a:avLst/>
          </a:prstGeom>
          <a:solidFill>
            <a:srgbClr val="1C7293"/>
          </a:solidFill>
          <a:ln/>
        </p:spPr>
      </p:sp>
      <p:sp>
        <p:nvSpPr>
          <p:cNvPr id="31" name="Text 29"/>
          <p:cNvSpPr/>
          <p:nvPr/>
        </p:nvSpPr>
        <p:spPr>
          <a:xfrm>
            <a:off x="822960" y="5431536"/>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Dependents</a:t>
            </a:r>
            <a:endParaRPr lang="en-US" sz="1250" dirty="0"/>
          </a:p>
        </p:txBody>
      </p:sp>
      <p:sp>
        <p:nvSpPr>
          <p:cNvPr id="32" name="Text 30"/>
          <p:cNvSpPr/>
          <p:nvPr/>
        </p:nvSpPr>
        <p:spPr>
          <a:xfrm>
            <a:off x="822960" y="5760720"/>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Number of financial dependents — 0, 1, 2, 3+</a:t>
            </a:r>
            <a:endParaRPr lang="en-US" sz="1100" dirty="0"/>
          </a:p>
        </p:txBody>
      </p:sp>
      <p:sp>
        <p:nvSpPr>
          <p:cNvPr id="33" name="Shape 31"/>
          <p:cNvSpPr/>
          <p:nvPr/>
        </p:nvSpPr>
        <p:spPr>
          <a:xfrm>
            <a:off x="6172200" y="5358384"/>
            <a:ext cx="5349240" cy="932688"/>
          </a:xfrm>
          <a:prstGeom prst="roundRect">
            <a:avLst>
              <a:gd name="adj" fmla="val 5882"/>
            </a:avLst>
          </a:prstGeom>
          <a:solidFill>
            <a:srgbClr val="FFFFFF"/>
          </a:solidFill>
          <a:ln w="12700">
            <a:solidFill>
              <a:srgbClr val="DCE3E8"/>
            </a:solidFill>
            <a:prstDash val="solid"/>
          </a:ln>
        </p:spPr>
      </p:sp>
      <p:sp>
        <p:nvSpPr>
          <p:cNvPr id="34" name="Shape 32"/>
          <p:cNvSpPr/>
          <p:nvPr/>
        </p:nvSpPr>
        <p:spPr>
          <a:xfrm>
            <a:off x="6172200" y="5358384"/>
            <a:ext cx="82296" cy="932688"/>
          </a:xfrm>
          <a:prstGeom prst="rect">
            <a:avLst/>
          </a:prstGeom>
          <a:solidFill>
            <a:srgbClr val="1C7293"/>
          </a:solidFill>
          <a:ln/>
        </p:spPr>
      </p:sp>
      <p:sp>
        <p:nvSpPr>
          <p:cNvPr id="35" name="Text 33"/>
          <p:cNvSpPr/>
          <p:nvPr/>
        </p:nvSpPr>
        <p:spPr>
          <a:xfrm>
            <a:off x="6446520" y="5431536"/>
            <a:ext cx="489204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Applicant Income</a:t>
            </a:r>
            <a:endParaRPr lang="en-US" sz="1250" dirty="0"/>
          </a:p>
        </p:txBody>
      </p:sp>
      <p:sp>
        <p:nvSpPr>
          <p:cNvPr id="36" name="Text 34"/>
          <p:cNvSpPr/>
          <p:nvPr/>
        </p:nvSpPr>
        <p:spPr>
          <a:xfrm>
            <a:off x="6446520" y="5760720"/>
            <a:ext cx="4892040" cy="457200"/>
          </a:xfrm>
          <a:prstGeom prst="rect">
            <a:avLst/>
          </a:prstGeom>
          <a:noFill/>
          <a:ln/>
        </p:spPr>
        <p:txBody>
          <a:bodyPr wrap="square" rtlCol="0" anchor="ctr"/>
          <a:lstStyle/>
          <a:p>
            <a:pPr marL="0" indent="0">
              <a:lnSpc>
                <a:spcPts val="1300"/>
              </a:lnSpc>
              <a:buNone/>
            </a:pPr>
            <a:r>
              <a:rPr lang="en-US" sz="1100" dirty="0">
                <a:solidFill>
                  <a:srgbClr val="5C6B7A"/>
                </a:solidFill>
                <a:latin typeface="Calibri" pitchFamily="34" charset="0"/>
                <a:ea typeface="Calibri" pitchFamily="34" charset="-122"/>
                <a:cs typeface="Calibri" pitchFamily="34" charset="-120"/>
              </a:rPr>
              <a:t>Monthly income used to derive Total Income</a:t>
            </a:r>
            <a:endParaRPr lang="en-US" sz="1100" dirty="0"/>
          </a:p>
        </p:txBody>
      </p:sp>
      <p:sp>
        <p:nvSpPr>
          <p:cNvPr id="37" name="Text 35"/>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38" name="Text 36"/>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7"/>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04  ·  DATA PREPARATION</a:t>
            </a:r>
            <a:endParaRPr lang="en-US" sz="125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 Cleaning &amp; Power Query Process</a:t>
            </a:r>
            <a:endParaRPr lang="en-US" sz="3000" dirty="0"/>
          </a:p>
        </p:txBody>
      </p:sp>
      <p:sp>
        <p:nvSpPr>
          <p:cNvPr id="4" name="Text 2"/>
          <p:cNvSpPr/>
          <p:nvPr/>
        </p:nvSpPr>
        <p:spPr>
          <a:xfrm>
            <a:off x="548640" y="1463040"/>
            <a:ext cx="10881360" cy="502920"/>
          </a:xfrm>
          <a:prstGeom prst="rect">
            <a:avLst/>
          </a:prstGeom>
          <a:noFill/>
          <a:ln/>
        </p:spPr>
        <p:txBody>
          <a:bodyPr wrap="square" rtlCol="0" anchor="ctr"/>
          <a:lstStyle/>
          <a:p>
            <a:pPr marL="0" indent="0">
              <a:lnSpc>
                <a:spcPts val="1800"/>
              </a:lnSpc>
              <a:buNone/>
            </a:pPr>
            <a:r>
              <a:rPr lang="en-US" sz="1300" dirty="0">
                <a:solidFill>
                  <a:srgbClr val="16222E"/>
                </a:solidFill>
                <a:latin typeface="Calibri" pitchFamily="34" charset="0"/>
                <a:ea typeface="Calibri" pitchFamily="34" charset="-122"/>
                <a:cs typeface="Calibri" pitchFamily="34" charset="-120"/>
              </a:rPr>
              <a:t>The raw dataset was imported into Power Query, where a repeatable transformation pipeline was applied before loading the model into Excel for pivoting and visualization.</a:t>
            </a:r>
            <a:endParaRPr lang="en-US" sz="1300" dirty="0"/>
          </a:p>
        </p:txBody>
      </p:sp>
      <p:sp>
        <p:nvSpPr>
          <p:cNvPr id="5" name="Shape 3"/>
          <p:cNvSpPr/>
          <p:nvPr/>
        </p:nvSpPr>
        <p:spPr>
          <a:xfrm>
            <a:off x="548640" y="2148840"/>
            <a:ext cx="2606040" cy="2331720"/>
          </a:xfrm>
          <a:prstGeom prst="roundRect">
            <a:avLst>
              <a:gd name="adj" fmla="val 2745"/>
            </a:avLst>
          </a:prstGeom>
          <a:solidFill>
            <a:srgbClr val="0B2545"/>
          </a:solidFill>
          <a:ln/>
        </p:spPr>
      </p:sp>
      <p:sp>
        <p:nvSpPr>
          <p:cNvPr id="6" name="Shape 4"/>
          <p:cNvSpPr/>
          <p:nvPr/>
        </p:nvSpPr>
        <p:spPr>
          <a:xfrm>
            <a:off x="749808" y="2350008"/>
            <a:ext cx="502920" cy="502920"/>
          </a:xfrm>
          <a:prstGeom prst="ellipse">
            <a:avLst/>
          </a:prstGeom>
          <a:solidFill>
            <a:srgbClr val="1C7293"/>
          </a:solidFill>
          <a:ln/>
        </p:spPr>
      </p:sp>
      <p:sp>
        <p:nvSpPr>
          <p:cNvPr id="7" name="Text 5"/>
          <p:cNvSpPr/>
          <p:nvPr/>
        </p:nvSpPr>
        <p:spPr>
          <a:xfrm>
            <a:off x="749808" y="2350008"/>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pic>
        <p:nvPicPr>
          <p:cNvPr id="8" name="Image 0" descr="/home/claude/icons/validate.png"/>
          <p:cNvPicPr>
            <a:picLocks noChangeAspect="1"/>
          </p:cNvPicPr>
          <p:nvPr/>
        </p:nvPicPr>
        <p:blipFill>
          <a:blip r:embed="rId3"/>
          <a:stretch>
            <a:fillRect/>
          </a:stretch>
        </p:blipFill>
        <p:spPr>
          <a:xfrm>
            <a:off x="2560320" y="2386584"/>
            <a:ext cx="384048" cy="384048"/>
          </a:xfrm>
          <a:prstGeom prst="rect">
            <a:avLst/>
          </a:prstGeom>
        </p:spPr>
      </p:pic>
      <p:sp>
        <p:nvSpPr>
          <p:cNvPr id="9" name="Text 6"/>
          <p:cNvSpPr/>
          <p:nvPr/>
        </p:nvSpPr>
        <p:spPr>
          <a:xfrm>
            <a:off x="749808" y="3017520"/>
            <a:ext cx="2203704" cy="502920"/>
          </a:xfrm>
          <a:prstGeom prst="rect">
            <a:avLst/>
          </a:prstGeom>
          <a:noFill/>
          <a:ln/>
        </p:spPr>
        <p:txBody>
          <a:bodyPr wrap="square" rtlCol="0" anchor="ctr"/>
          <a:lstStyle/>
          <a:p>
            <a:pPr marL="0" indent="0">
              <a:lnSpc>
                <a:spcPts val="1500"/>
              </a:lnSpc>
              <a:buNone/>
            </a:pPr>
            <a:r>
              <a:rPr lang="en-US" sz="1300" b="1" dirty="0">
                <a:solidFill>
                  <a:srgbClr val="FFFFFF"/>
                </a:solidFill>
                <a:latin typeface="Calibri" pitchFamily="34" charset="0"/>
                <a:ea typeface="Calibri" pitchFamily="34" charset="-122"/>
                <a:cs typeface="Calibri" pitchFamily="34" charset="-120"/>
              </a:rPr>
              <a:t>Validate Data Types</a:t>
            </a:r>
            <a:endParaRPr lang="en-US" sz="1300" dirty="0"/>
          </a:p>
        </p:txBody>
      </p:sp>
      <p:sp>
        <p:nvSpPr>
          <p:cNvPr id="10" name="Text 7"/>
          <p:cNvSpPr/>
          <p:nvPr/>
        </p:nvSpPr>
        <p:spPr>
          <a:xfrm>
            <a:off x="749808" y="3520440"/>
            <a:ext cx="2203704" cy="914400"/>
          </a:xfrm>
          <a:prstGeom prst="rect">
            <a:avLst/>
          </a:prstGeom>
          <a:noFill/>
          <a:ln/>
        </p:spPr>
        <p:txBody>
          <a:bodyPr wrap="square" rtlCol="0" anchor="ctr"/>
          <a:lstStyle/>
          <a:p>
            <a:pPr marL="0" indent="0">
              <a:lnSpc>
                <a:spcPts val="1300"/>
              </a:lnSpc>
              <a:buNone/>
            </a:pPr>
            <a:r>
              <a:rPr lang="en-US" sz="1000" dirty="0">
                <a:solidFill>
                  <a:srgbClr val="C7D6E3"/>
                </a:solidFill>
                <a:latin typeface="Calibri" pitchFamily="34" charset="0"/>
                <a:ea typeface="Calibri" pitchFamily="34" charset="-122"/>
                <a:cs typeface="Calibri" pitchFamily="34" charset="-120"/>
              </a:rPr>
              <a:t>Corrected column data types (numeric, text, date) to ensure accurate calculations.</a:t>
            </a:r>
            <a:endParaRPr lang="en-US" sz="1000" dirty="0"/>
          </a:p>
        </p:txBody>
      </p:sp>
      <p:sp>
        <p:nvSpPr>
          <p:cNvPr id="11" name="Shape 8"/>
          <p:cNvSpPr/>
          <p:nvPr/>
        </p:nvSpPr>
        <p:spPr>
          <a:xfrm>
            <a:off x="3337560" y="2148840"/>
            <a:ext cx="2606040" cy="2331720"/>
          </a:xfrm>
          <a:prstGeom prst="roundRect">
            <a:avLst>
              <a:gd name="adj" fmla="val 2745"/>
            </a:avLst>
          </a:prstGeom>
          <a:solidFill>
            <a:srgbClr val="0B2545"/>
          </a:solidFill>
          <a:ln/>
        </p:spPr>
      </p:sp>
      <p:sp>
        <p:nvSpPr>
          <p:cNvPr id="12" name="Shape 9"/>
          <p:cNvSpPr/>
          <p:nvPr/>
        </p:nvSpPr>
        <p:spPr>
          <a:xfrm>
            <a:off x="3538728" y="2350008"/>
            <a:ext cx="502920" cy="502920"/>
          </a:xfrm>
          <a:prstGeom prst="ellipse">
            <a:avLst/>
          </a:prstGeom>
          <a:solidFill>
            <a:srgbClr val="1C7293"/>
          </a:solidFill>
          <a:ln/>
        </p:spPr>
      </p:sp>
      <p:sp>
        <p:nvSpPr>
          <p:cNvPr id="13" name="Text 10"/>
          <p:cNvSpPr/>
          <p:nvPr/>
        </p:nvSpPr>
        <p:spPr>
          <a:xfrm>
            <a:off x="3538728" y="2350008"/>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pic>
        <p:nvPicPr>
          <p:cNvPr id="14" name="Image 1" descr="/home/claude/icons/duplicates.png"/>
          <p:cNvPicPr>
            <a:picLocks noChangeAspect="1"/>
          </p:cNvPicPr>
          <p:nvPr/>
        </p:nvPicPr>
        <p:blipFill>
          <a:blip r:embed="rId4"/>
          <a:stretch>
            <a:fillRect/>
          </a:stretch>
        </p:blipFill>
        <p:spPr>
          <a:xfrm>
            <a:off x="5349240" y="2386584"/>
            <a:ext cx="384048" cy="384048"/>
          </a:xfrm>
          <a:prstGeom prst="rect">
            <a:avLst/>
          </a:prstGeom>
        </p:spPr>
      </p:pic>
      <p:sp>
        <p:nvSpPr>
          <p:cNvPr id="15" name="Text 11"/>
          <p:cNvSpPr/>
          <p:nvPr/>
        </p:nvSpPr>
        <p:spPr>
          <a:xfrm>
            <a:off x="3538728" y="3017520"/>
            <a:ext cx="2203704" cy="502920"/>
          </a:xfrm>
          <a:prstGeom prst="rect">
            <a:avLst/>
          </a:prstGeom>
          <a:noFill/>
          <a:ln/>
        </p:spPr>
        <p:txBody>
          <a:bodyPr wrap="square" rtlCol="0" anchor="ctr"/>
          <a:lstStyle/>
          <a:p>
            <a:pPr marL="0" indent="0">
              <a:lnSpc>
                <a:spcPts val="1500"/>
              </a:lnSpc>
              <a:buNone/>
            </a:pPr>
            <a:r>
              <a:rPr lang="en-US" sz="1300" b="1" dirty="0">
                <a:solidFill>
                  <a:srgbClr val="FFFFFF"/>
                </a:solidFill>
                <a:latin typeface="Calibri" pitchFamily="34" charset="0"/>
                <a:ea typeface="Calibri" pitchFamily="34" charset="-122"/>
                <a:cs typeface="Calibri" pitchFamily="34" charset="-120"/>
              </a:rPr>
              <a:t>Remove Duplicates</a:t>
            </a:r>
            <a:endParaRPr lang="en-US" sz="1300" dirty="0"/>
          </a:p>
        </p:txBody>
      </p:sp>
      <p:sp>
        <p:nvSpPr>
          <p:cNvPr id="16" name="Text 12"/>
          <p:cNvSpPr/>
          <p:nvPr/>
        </p:nvSpPr>
        <p:spPr>
          <a:xfrm>
            <a:off x="3538728" y="3520440"/>
            <a:ext cx="2203704" cy="914400"/>
          </a:xfrm>
          <a:prstGeom prst="rect">
            <a:avLst/>
          </a:prstGeom>
          <a:noFill/>
          <a:ln/>
        </p:spPr>
        <p:txBody>
          <a:bodyPr wrap="square" rtlCol="0" anchor="ctr"/>
          <a:lstStyle/>
          <a:p>
            <a:pPr marL="0" indent="0">
              <a:lnSpc>
                <a:spcPts val="1300"/>
              </a:lnSpc>
              <a:buNone/>
            </a:pPr>
            <a:r>
              <a:rPr lang="en-US" sz="1000" dirty="0">
                <a:solidFill>
                  <a:srgbClr val="C7D6E3"/>
                </a:solidFill>
                <a:latin typeface="Calibri" pitchFamily="34" charset="0"/>
                <a:ea typeface="Calibri" pitchFamily="34" charset="-122"/>
                <a:cs typeface="Calibri" pitchFamily="34" charset="-120"/>
              </a:rPr>
              <a:t>Identified and removed duplicate application records to prevent skewed totals.</a:t>
            </a:r>
            <a:endParaRPr lang="en-US" sz="1000" dirty="0"/>
          </a:p>
        </p:txBody>
      </p:sp>
      <p:sp>
        <p:nvSpPr>
          <p:cNvPr id="17" name="Shape 13"/>
          <p:cNvSpPr/>
          <p:nvPr/>
        </p:nvSpPr>
        <p:spPr>
          <a:xfrm>
            <a:off x="6126480" y="2148840"/>
            <a:ext cx="2606040" cy="2331720"/>
          </a:xfrm>
          <a:prstGeom prst="roundRect">
            <a:avLst>
              <a:gd name="adj" fmla="val 2745"/>
            </a:avLst>
          </a:prstGeom>
          <a:solidFill>
            <a:srgbClr val="0B2545"/>
          </a:solidFill>
          <a:ln/>
        </p:spPr>
      </p:sp>
      <p:sp>
        <p:nvSpPr>
          <p:cNvPr id="18" name="Shape 14"/>
          <p:cNvSpPr/>
          <p:nvPr/>
        </p:nvSpPr>
        <p:spPr>
          <a:xfrm>
            <a:off x="6327648" y="2350008"/>
            <a:ext cx="502920" cy="502920"/>
          </a:xfrm>
          <a:prstGeom prst="ellipse">
            <a:avLst/>
          </a:prstGeom>
          <a:solidFill>
            <a:srgbClr val="1C7293"/>
          </a:solidFill>
          <a:ln/>
        </p:spPr>
      </p:sp>
      <p:sp>
        <p:nvSpPr>
          <p:cNvPr id="19" name="Text 15"/>
          <p:cNvSpPr/>
          <p:nvPr/>
        </p:nvSpPr>
        <p:spPr>
          <a:xfrm>
            <a:off x="6327648" y="2350008"/>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pic>
        <p:nvPicPr>
          <p:cNvPr id="20" name="Image 2" descr="/home/claude/icons/trim.png"/>
          <p:cNvPicPr>
            <a:picLocks noChangeAspect="1"/>
          </p:cNvPicPr>
          <p:nvPr/>
        </p:nvPicPr>
        <p:blipFill>
          <a:blip r:embed="rId5"/>
          <a:stretch>
            <a:fillRect/>
          </a:stretch>
        </p:blipFill>
        <p:spPr>
          <a:xfrm>
            <a:off x="8138160" y="2386584"/>
            <a:ext cx="384048" cy="384048"/>
          </a:xfrm>
          <a:prstGeom prst="rect">
            <a:avLst/>
          </a:prstGeom>
        </p:spPr>
      </p:pic>
      <p:sp>
        <p:nvSpPr>
          <p:cNvPr id="21" name="Text 16"/>
          <p:cNvSpPr/>
          <p:nvPr/>
        </p:nvSpPr>
        <p:spPr>
          <a:xfrm>
            <a:off x="6327648" y="3017520"/>
            <a:ext cx="2203704" cy="502920"/>
          </a:xfrm>
          <a:prstGeom prst="rect">
            <a:avLst/>
          </a:prstGeom>
          <a:noFill/>
          <a:ln/>
        </p:spPr>
        <p:txBody>
          <a:bodyPr wrap="square" rtlCol="0" anchor="ctr"/>
          <a:lstStyle/>
          <a:p>
            <a:pPr marL="0" indent="0">
              <a:lnSpc>
                <a:spcPts val="1500"/>
              </a:lnSpc>
              <a:buNone/>
            </a:pPr>
            <a:r>
              <a:rPr lang="en-US" sz="1300" b="1" dirty="0">
                <a:solidFill>
                  <a:srgbClr val="FFFFFF"/>
                </a:solidFill>
                <a:latin typeface="Calibri" pitchFamily="34" charset="0"/>
                <a:ea typeface="Calibri" pitchFamily="34" charset="-122"/>
                <a:cs typeface="Calibri" pitchFamily="34" charset="-120"/>
              </a:rPr>
              <a:t>Trim Text Fields</a:t>
            </a:r>
            <a:endParaRPr lang="en-US" sz="1300" dirty="0"/>
          </a:p>
        </p:txBody>
      </p:sp>
      <p:sp>
        <p:nvSpPr>
          <p:cNvPr id="22" name="Text 17"/>
          <p:cNvSpPr/>
          <p:nvPr/>
        </p:nvSpPr>
        <p:spPr>
          <a:xfrm>
            <a:off x="6327648" y="3520440"/>
            <a:ext cx="2203704" cy="914400"/>
          </a:xfrm>
          <a:prstGeom prst="rect">
            <a:avLst/>
          </a:prstGeom>
          <a:noFill/>
          <a:ln/>
        </p:spPr>
        <p:txBody>
          <a:bodyPr wrap="square" rtlCol="0" anchor="ctr"/>
          <a:lstStyle/>
          <a:p>
            <a:pPr marL="0" indent="0">
              <a:lnSpc>
                <a:spcPts val="1300"/>
              </a:lnSpc>
              <a:buNone/>
            </a:pPr>
            <a:r>
              <a:rPr lang="en-US" sz="1000" dirty="0">
                <a:solidFill>
                  <a:srgbClr val="C7D6E3"/>
                </a:solidFill>
                <a:latin typeface="Calibri" pitchFamily="34" charset="0"/>
                <a:ea typeface="Calibri" pitchFamily="34" charset="-122"/>
                <a:cs typeface="Calibri" pitchFamily="34" charset="-120"/>
              </a:rPr>
              <a:t>Removed leading/trailing spaces and hidden characters from categorical fields.</a:t>
            </a:r>
            <a:endParaRPr lang="en-US" sz="1000" dirty="0"/>
          </a:p>
        </p:txBody>
      </p:sp>
      <p:sp>
        <p:nvSpPr>
          <p:cNvPr id="23" name="Shape 18"/>
          <p:cNvSpPr/>
          <p:nvPr/>
        </p:nvSpPr>
        <p:spPr>
          <a:xfrm>
            <a:off x="8915400" y="2148840"/>
            <a:ext cx="2606040" cy="2331720"/>
          </a:xfrm>
          <a:prstGeom prst="roundRect">
            <a:avLst>
              <a:gd name="adj" fmla="val 2745"/>
            </a:avLst>
          </a:prstGeom>
          <a:solidFill>
            <a:srgbClr val="0B2545"/>
          </a:solidFill>
          <a:ln/>
        </p:spPr>
      </p:sp>
      <p:sp>
        <p:nvSpPr>
          <p:cNvPr id="24" name="Shape 19"/>
          <p:cNvSpPr/>
          <p:nvPr/>
        </p:nvSpPr>
        <p:spPr>
          <a:xfrm>
            <a:off x="9116568" y="2350008"/>
            <a:ext cx="502920" cy="502920"/>
          </a:xfrm>
          <a:prstGeom prst="ellipse">
            <a:avLst/>
          </a:prstGeom>
          <a:solidFill>
            <a:srgbClr val="1C7293"/>
          </a:solidFill>
          <a:ln/>
        </p:spPr>
      </p:sp>
      <p:sp>
        <p:nvSpPr>
          <p:cNvPr id="25" name="Text 20"/>
          <p:cNvSpPr/>
          <p:nvPr/>
        </p:nvSpPr>
        <p:spPr>
          <a:xfrm>
            <a:off x="9116568" y="2350008"/>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pic>
        <p:nvPicPr>
          <p:cNvPr id="26" name="Image 3" descr="/home/claude/icons/standardize.png"/>
          <p:cNvPicPr>
            <a:picLocks noChangeAspect="1"/>
          </p:cNvPicPr>
          <p:nvPr/>
        </p:nvPicPr>
        <p:blipFill>
          <a:blip r:embed="rId6"/>
          <a:stretch>
            <a:fillRect/>
          </a:stretch>
        </p:blipFill>
        <p:spPr>
          <a:xfrm>
            <a:off x="10927080" y="2386584"/>
            <a:ext cx="384048" cy="384048"/>
          </a:xfrm>
          <a:prstGeom prst="rect">
            <a:avLst/>
          </a:prstGeom>
        </p:spPr>
      </p:pic>
      <p:sp>
        <p:nvSpPr>
          <p:cNvPr id="27" name="Text 21"/>
          <p:cNvSpPr/>
          <p:nvPr/>
        </p:nvSpPr>
        <p:spPr>
          <a:xfrm>
            <a:off x="9116568" y="3017520"/>
            <a:ext cx="2203704" cy="502920"/>
          </a:xfrm>
          <a:prstGeom prst="rect">
            <a:avLst/>
          </a:prstGeom>
          <a:noFill/>
          <a:ln/>
        </p:spPr>
        <p:txBody>
          <a:bodyPr wrap="square" rtlCol="0" anchor="ctr"/>
          <a:lstStyle/>
          <a:p>
            <a:pPr marL="0" indent="0">
              <a:lnSpc>
                <a:spcPts val="1500"/>
              </a:lnSpc>
              <a:buNone/>
            </a:pPr>
            <a:r>
              <a:rPr lang="en-US" sz="1300" b="1" dirty="0">
                <a:solidFill>
                  <a:srgbClr val="FFFFFF"/>
                </a:solidFill>
                <a:latin typeface="Calibri" pitchFamily="34" charset="0"/>
                <a:ea typeface="Calibri" pitchFamily="34" charset="-122"/>
                <a:cs typeface="Calibri" pitchFamily="34" charset="-120"/>
              </a:rPr>
              <a:t>Standardize Categories</a:t>
            </a:r>
            <a:endParaRPr lang="en-US" sz="1300" dirty="0"/>
          </a:p>
        </p:txBody>
      </p:sp>
      <p:sp>
        <p:nvSpPr>
          <p:cNvPr id="28" name="Text 22"/>
          <p:cNvSpPr/>
          <p:nvPr/>
        </p:nvSpPr>
        <p:spPr>
          <a:xfrm>
            <a:off x="9116568" y="3520440"/>
            <a:ext cx="2203704" cy="914400"/>
          </a:xfrm>
          <a:prstGeom prst="rect">
            <a:avLst/>
          </a:prstGeom>
          <a:noFill/>
          <a:ln/>
        </p:spPr>
        <p:txBody>
          <a:bodyPr wrap="square" rtlCol="0" anchor="ctr"/>
          <a:lstStyle/>
          <a:p>
            <a:pPr marL="0" indent="0">
              <a:lnSpc>
                <a:spcPts val="1300"/>
              </a:lnSpc>
              <a:buNone/>
            </a:pPr>
            <a:r>
              <a:rPr lang="en-US" sz="1000" dirty="0">
                <a:solidFill>
                  <a:srgbClr val="C7D6E3"/>
                </a:solidFill>
                <a:latin typeface="Calibri" pitchFamily="34" charset="0"/>
                <a:ea typeface="Calibri" pitchFamily="34" charset="-122"/>
                <a:cs typeface="Calibri" pitchFamily="34" charset="-120"/>
              </a:rPr>
              <a:t>Unified inconsistent labels (e.g., 'Y/N' → 'Approved/Rejected') across columns.</a:t>
            </a:r>
            <a:endParaRPr lang="en-US" sz="1000" dirty="0"/>
          </a:p>
        </p:txBody>
      </p:sp>
      <p:sp>
        <p:nvSpPr>
          <p:cNvPr id="29" name="Shape 23"/>
          <p:cNvSpPr/>
          <p:nvPr/>
        </p:nvSpPr>
        <p:spPr>
          <a:xfrm>
            <a:off x="548640" y="4709160"/>
            <a:ext cx="11091672" cy="1417320"/>
          </a:xfrm>
          <a:prstGeom prst="roundRect">
            <a:avLst>
              <a:gd name="adj" fmla="val 4516"/>
            </a:avLst>
          </a:prstGeom>
          <a:solidFill>
            <a:srgbClr val="FFFFFF"/>
          </a:solidFill>
          <a:ln w="12700">
            <a:solidFill>
              <a:srgbClr val="DCE3E8"/>
            </a:solidFill>
            <a:prstDash val="solid"/>
          </a:ln>
        </p:spPr>
      </p:sp>
      <p:sp>
        <p:nvSpPr>
          <p:cNvPr id="30" name="Shape 24"/>
          <p:cNvSpPr/>
          <p:nvPr/>
        </p:nvSpPr>
        <p:spPr>
          <a:xfrm>
            <a:off x="822960" y="5074920"/>
            <a:ext cx="457200" cy="457200"/>
          </a:xfrm>
          <a:prstGeom prst="ellipse">
            <a:avLst/>
          </a:prstGeom>
          <a:solidFill>
            <a:srgbClr val="0B2545"/>
          </a:solidFill>
          <a:ln/>
        </p:spPr>
      </p:sp>
      <p:pic>
        <p:nvPicPr>
          <p:cNvPr id="31" name="Image 4" descr="/home/claude/icons/calccol.png"/>
          <p:cNvPicPr>
            <a:picLocks noChangeAspect="1"/>
          </p:cNvPicPr>
          <p:nvPr/>
        </p:nvPicPr>
        <p:blipFill>
          <a:blip r:embed="rId7"/>
          <a:stretch>
            <a:fillRect/>
          </a:stretch>
        </p:blipFill>
        <p:spPr>
          <a:xfrm>
            <a:off x="923544" y="5175504"/>
            <a:ext cx="256032" cy="256032"/>
          </a:xfrm>
          <a:prstGeom prst="rect">
            <a:avLst/>
          </a:prstGeom>
        </p:spPr>
      </p:pic>
      <p:sp>
        <p:nvSpPr>
          <p:cNvPr id="32" name="Text 25"/>
          <p:cNvSpPr/>
          <p:nvPr/>
        </p:nvSpPr>
        <p:spPr>
          <a:xfrm>
            <a:off x="1417320" y="4864608"/>
            <a:ext cx="996696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Calculated Columns Created  </a:t>
            </a:r>
            <a:r>
              <a:rPr lang="en-US" sz="1250" i="1" dirty="0">
                <a:solidFill>
                  <a:srgbClr val="5C6B7A"/>
                </a:solidFill>
                <a:latin typeface="Calibri" pitchFamily="34" charset="0"/>
                <a:ea typeface="Calibri" pitchFamily="34" charset="-122"/>
                <a:cs typeface="Calibri" pitchFamily="34" charset="-120"/>
              </a:rPr>
              <a:t>New fields engineered in Power Query to enrich the analysis model</a:t>
            </a:r>
            <a:endParaRPr lang="en-US" sz="1250" dirty="0"/>
          </a:p>
        </p:txBody>
      </p:sp>
      <p:sp>
        <p:nvSpPr>
          <p:cNvPr id="33" name="Text 26"/>
          <p:cNvSpPr/>
          <p:nvPr/>
        </p:nvSpPr>
        <p:spPr>
          <a:xfrm>
            <a:off x="1417320" y="5257800"/>
            <a:ext cx="3520440" cy="777240"/>
          </a:xfrm>
          <a:prstGeom prst="rect">
            <a:avLst/>
          </a:prstGeom>
          <a:noFill/>
          <a:ln/>
        </p:spPr>
        <p:txBody>
          <a:bodyPr wrap="square" rtlCol="0" anchor="ctr"/>
          <a:lstStyle/>
          <a:p>
            <a:pPr marL="0" indent="0">
              <a:lnSpc>
                <a:spcPts val="1400"/>
              </a:lnSpc>
              <a:buNone/>
            </a:pPr>
            <a:r>
              <a:rPr lang="en-US" sz="1050" b="1" dirty="0">
                <a:solidFill>
                  <a:srgbClr val="1C7293"/>
                </a:solidFill>
                <a:latin typeface="Calibri" pitchFamily="34" charset="0"/>
                <a:ea typeface="Calibri" pitchFamily="34" charset="-122"/>
                <a:cs typeface="Calibri" pitchFamily="34" charset="-120"/>
              </a:rPr>
              <a:t>Total Income — </a:t>
            </a:r>
            <a:r>
              <a:rPr lang="en-US" sz="1050" dirty="0">
                <a:solidFill>
                  <a:srgbClr val="16222E"/>
                </a:solidFill>
                <a:latin typeface="Calibri" pitchFamily="34" charset="0"/>
                <a:ea typeface="Calibri" pitchFamily="34" charset="-122"/>
                <a:cs typeface="Calibri" pitchFamily="34" charset="-120"/>
              </a:rPr>
              <a:t>Applicant Income + Co-applicant Income combined</a:t>
            </a:r>
            <a:endParaRPr lang="en-US" sz="1050" dirty="0"/>
          </a:p>
        </p:txBody>
      </p:sp>
      <p:sp>
        <p:nvSpPr>
          <p:cNvPr id="36" name="Text 29"/>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37" name="Text 3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7"/>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05  ·  DASHBOARD</a:t>
            </a:r>
            <a:endParaRPr lang="en-US" sz="125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KPI Dashboard Overview</a:t>
            </a:r>
            <a:endParaRPr lang="en-US" sz="3000" dirty="0"/>
          </a:p>
        </p:txBody>
      </p:sp>
      <p:sp>
        <p:nvSpPr>
          <p:cNvPr id="6" name="Shape 3"/>
          <p:cNvSpPr/>
          <p:nvPr/>
        </p:nvSpPr>
        <p:spPr>
          <a:xfrm>
            <a:off x="548640" y="1508760"/>
            <a:ext cx="3200400" cy="1298448"/>
          </a:xfrm>
          <a:prstGeom prst="roundRect">
            <a:avLst>
              <a:gd name="adj" fmla="val 4930"/>
            </a:avLst>
          </a:prstGeom>
          <a:solidFill>
            <a:srgbClr val="FFFFFF"/>
          </a:solidFill>
          <a:ln w="12700">
            <a:solidFill>
              <a:srgbClr val="DCE3E8"/>
            </a:solidFill>
            <a:prstDash val="solid"/>
          </a:ln>
        </p:spPr>
      </p:sp>
      <p:sp>
        <p:nvSpPr>
          <p:cNvPr id="7" name="Shape 4"/>
          <p:cNvSpPr/>
          <p:nvPr/>
        </p:nvSpPr>
        <p:spPr>
          <a:xfrm>
            <a:off x="749808" y="1847088"/>
            <a:ext cx="621792" cy="621792"/>
          </a:xfrm>
          <a:prstGeom prst="ellipse">
            <a:avLst/>
          </a:prstGeom>
          <a:solidFill>
            <a:srgbClr val="0B2545"/>
          </a:solidFill>
          <a:ln/>
        </p:spPr>
      </p:sp>
      <p:pic>
        <p:nvPicPr>
          <p:cNvPr id="8" name="Image 1" descr="/home/claude/icons/kpi_apps_w.png"/>
          <p:cNvPicPr>
            <a:picLocks noChangeAspect="1"/>
          </p:cNvPicPr>
          <p:nvPr/>
        </p:nvPicPr>
        <p:blipFill>
          <a:blip r:embed="rId3"/>
          <a:stretch>
            <a:fillRect/>
          </a:stretch>
        </p:blipFill>
        <p:spPr>
          <a:xfrm>
            <a:off x="896112" y="1993392"/>
            <a:ext cx="329184" cy="329184"/>
          </a:xfrm>
          <a:prstGeom prst="rect">
            <a:avLst/>
          </a:prstGeom>
        </p:spPr>
      </p:pic>
      <p:sp>
        <p:nvSpPr>
          <p:cNvPr id="9" name="Text 5"/>
          <p:cNvSpPr/>
          <p:nvPr/>
        </p:nvSpPr>
        <p:spPr>
          <a:xfrm>
            <a:off x="1554480" y="1655064"/>
            <a:ext cx="2011680" cy="54864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1,000</a:t>
            </a:r>
            <a:endParaRPr lang="en-US" sz="2200" dirty="0"/>
          </a:p>
        </p:txBody>
      </p:sp>
      <p:sp>
        <p:nvSpPr>
          <p:cNvPr id="10" name="Text 6"/>
          <p:cNvSpPr/>
          <p:nvPr/>
        </p:nvSpPr>
        <p:spPr>
          <a:xfrm>
            <a:off x="1554480" y="2221992"/>
            <a:ext cx="2011680" cy="365760"/>
          </a:xfrm>
          <a:prstGeom prst="rect">
            <a:avLst/>
          </a:prstGeom>
          <a:noFill/>
          <a:ln/>
        </p:spPr>
        <p:txBody>
          <a:bodyPr wrap="square" rtlCol="0" anchor="ctr"/>
          <a:lstStyle/>
          <a:p>
            <a:pPr marL="0" indent="0">
              <a:buNone/>
            </a:pPr>
            <a:r>
              <a:rPr lang="en-US" sz="1000" b="1" kern="0" spc="100" dirty="0">
                <a:solidFill>
                  <a:srgbClr val="5C6B7A"/>
                </a:solidFill>
                <a:latin typeface="Calibri" pitchFamily="34" charset="0"/>
                <a:ea typeface="Calibri" pitchFamily="34" charset="-122"/>
                <a:cs typeface="Calibri" pitchFamily="34" charset="-120"/>
              </a:rPr>
              <a:t>TOTAL APPLICATIONS</a:t>
            </a:r>
            <a:endParaRPr lang="en-US" sz="1000" dirty="0"/>
          </a:p>
        </p:txBody>
      </p:sp>
      <p:sp>
        <p:nvSpPr>
          <p:cNvPr id="11" name="Shape 7"/>
          <p:cNvSpPr/>
          <p:nvPr/>
        </p:nvSpPr>
        <p:spPr>
          <a:xfrm>
            <a:off x="3886200" y="1508760"/>
            <a:ext cx="3200400" cy="1298448"/>
          </a:xfrm>
          <a:prstGeom prst="roundRect">
            <a:avLst>
              <a:gd name="adj" fmla="val 4930"/>
            </a:avLst>
          </a:prstGeom>
          <a:solidFill>
            <a:srgbClr val="FFFFFF"/>
          </a:solidFill>
          <a:ln w="12700">
            <a:solidFill>
              <a:srgbClr val="DCE3E8"/>
            </a:solidFill>
            <a:prstDash val="solid"/>
          </a:ln>
        </p:spPr>
      </p:sp>
      <p:sp>
        <p:nvSpPr>
          <p:cNvPr id="12" name="Shape 8"/>
          <p:cNvSpPr/>
          <p:nvPr/>
        </p:nvSpPr>
        <p:spPr>
          <a:xfrm>
            <a:off x="4087368" y="1847088"/>
            <a:ext cx="621792" cy="621792"/>
          </a:xfrm>
          <a:prstGeom prst="ellipse">
            <a:avLst/>
          </a:prstGeom>
          <a:solidFill>
            <a:srgbClr val="0B2545"/>
          </a:solidFill>
          <a:ln/>
        </p:spPr>
      </p:sp>
      <p:pic>
        <p:nvPicPr>
          <p:cNvPr id="13" name="Image 2" descr="/home/claude/icons/kpi_approved_w.png"/>
          <p:cNvPicPr>
            <a:picLocks noChangeAspect="1"/>
          </p:cNvPicPr>
          <p:nvPr/>
        </p:nvPicPr>
        <p:blipFill>
          <a:blip r:embed="rId4"/>
          <a:stretch>
            <a:fillRect/>
          </a:stretch>
        </p:blipFill>
        <p:spPr>
          <a:xfrm>
            <a:off x="4233672" y="1993392"/>
            <a:ext cx="329184" cy="329184"/>
          </a:xfrm>
          <a:prstGeom prst="rect">
            <a:avLst/>
          </a:prstGeom>
        </p:spPr>
      </p:pic>
      <p:sp>
        <p:nvSpPr>
          <p:cNvPr id="14" name="Text 9"/>
          <p:cNvSpPr/>
          <p:nvPr/>
        </p:nvSpPr>
        <p:spPr>
          <a:xfrm>
            <a:off x="4892040" y="1655064"/>
            <a:ext cx="2011680" cy="54864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903</a:t>
            </a:r>
            <a:endParaRPr lang="en-US" sz="2200" dirty="0"/>
          </a:p>
        </p:txBody>
      </p:sp>
      <p:sp>
        <p:nvSpPr>
          <p:cNvPr id="15" name="Text 10"/>
          <p:cNvSpPr/>
          <p:nvPr/>
        </p:nvSpPr>
        <p:spPr>
          <a:xfrm>
            <a:off x="4892040" y="2221992"/>
            <a:ext cx="2011680" cy="365760"/>
          </a:xfrm>
          <a:prstGeom prst="rect">
            <a:avLst/>
          </a:prstGeom>
          <a:noFill/>
          <a:ln/>
        </p:spPr>
        <p:txBody>
          <a:bodyPr wrap="square" rtlCol="0" anchor="ctr"/>
          <a:lstStyle/>
          <a:p>
            <a:pPr marL="0" indent="0">
              <a:buNone/>
            </a:pPr>
            <a:r>
              <a:rPr lang="en-US" sz="1000" b="1" kern="0" spc="100" dirty="0">
                <a:solidFill>
                  <a:srgbClr val="5C6B7A"/>
                </a:solidFill>
                <a:latin typeface="Calibri" pitchFamily="34" charset="0"/>
                <a:ea typeface="Calibri" pitchFamily="34" charset="-122"/>
                <a:cs typeface="Calibri" pitchFamily="34" charset="-120"/>
              </a:rPr>
              <a:t>APPROVED LOANS</a:t>
            </a:r>
            <a:endParaRPr lang="en-US" sz="1000" dirty="0"/>
          </a:p>
        </p:txBody>
      </p:sp>
      <p:sp>
        <p:nvSpPr>
          <p:cNvPr id="16" name="Shape 11"/>
          <p:cNvSpPr/>
          <p:nvPr/>
        </p:nvSpPr>
        <p:spPr>
          <a:xfrm>
            <a:off x="548640" y="2944368"/>
            <a:ext cx="3200400" cy="1298448"/>
          </a:xfrm>
          <a:prstGeom prst="roundRect">
            <a:avLst>
              <a:gd name="adj" fmla="val 4930"/>
            </a:avLst>
          </a:prstGeom>
          <a:solidFill>
            <a:srgbClr val="FFFFFF"/>
          </a:solidFill>
          <a:ln w="12700">
            <a:solidFill>
              <a:srgbClr val="DCE3E8"/>
            </a:solidFill>
            <a:prstDash val="solid"/>
          </a:ln>
        </p:spPr>
      </p:sp>
      <p:sp>
        <p:nvSpPr>
          <p:cNvPr id="17" name="Shape 12"/>
          <p:cNvSpPr/>
          <p:nvPr/>
        </p:nvSpPr>
        <p:spPr>
          <a:xfrm>
            <a:off x="749808" y="3282696"/>
            <a:ext cx="621792" cy="621792"/>
          </a:xfrm>
          <a:prstGeom prst="ellipse">
            <a:avLst/>
          </a:prstGeom>
          <a:solidFill>
            <a:srgbClr val="0B2545"/>
          </a:solidFill>
          <a:ln/>
        </p:spPr>
      </p:sp>
      <p:pic>
        <p:nvPicPr>
          <p:cNvPr id="18" name="Image 3" descr="/home/claude/icons/kpi_rejected_w.png"/>
          <p:cNvPicPr>
            <a:picLocks noChangeAspect="1"/>
          </p:cNvPicPr>
          <p:nvPr/>
        </p:nvPicPr>
        <p:blipFill>
          <a:blip r:embed="rId5"/>
          <a:stretch>
            <a:fillRect/>
          </a:stretch>
        </p:blipFill>
        <p:spPr>
          <a:xfrm>
            <a:off x="896112" y="3429000"/>
            <a:ext cx="329184" cy="329184"/>
          </a:xfrm>
          <a:prstGeom prst="rect">
            <a:avLst/>
          </a:prstGeom>
        </p:spPr>
      </p:pic>
      <p:sp>
        <p:nvSpPr>
          <p:cNvPr id="19" name="Text 13"/>
          <p:cNvSpPr/>
          <p:nvPr/>
        </p:nvSpPr>
        <p:spPr>
          <a:xfrm>
            <a:off x="1554480" y="3090672"/>
            <a:ext cx="2011680" cy="54864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97</a:t>
            </a:r>
            <a:endParaRPr lang="en-US" sz="2200" dirty="0"/>
          </a:p>
        </p:txBody>
      </p:sp>
      <p:sp>
        <p:nvSpPr>
          <p:cNvPr id="20" name="Text 14"/>
          <p:cNvSpPr/>
          <p:nvPr/>
        </p:nvSpPr>
        <p:spPr>
          <a:xfrm>
            <a:off x="1554480" y="3657600"/>
            <a:ext cx="2011680" cy="365760"/>
          </a:xfrm>
          <a:prstGeom prst="rect">
            <a:avLst/>
          </a:prstGeom>
          <a:noFill/>
          <a:ln/>
        </p:spPr>
        <p:txBody>
          <a:bodyPr wrap="square" rtlCol="0" anchor="ctr"/>
          <a:lstStyle/>
          <a:p>
            <a:pPr marL="0" indent="0">
              <a:buNone/>
            </a:pPr>
            <a:r>
              <a:rPr lang="en-US" sz="1000" b="1" kern="0" spc="100" dirty="0">
                <a:solidFill>
                  <a:srgbClr val="5C6B7A"/>
                </a:solidFill>
                <a:latin typeface="Calibri" pitchFamily="34" charset="0"/>
                <a:ea typeface="Calibri" pitchFamily="34" charset="-122"/>
                <a:cs typeface="Calibri" pitchFamily="34" charset="-120"/>
              </a:rPr>
              <a:t>REJECTED LOANS</a:t>
            </a:r>
            <a:endParaRPr lang="en-US" sz="1000" dirty="0"/>
          </a:p>
        </p:txBody>
      </p:sp>
      <p:sp>
        <p:nvSpPr>
          <p:cNvPr id="21" name="Shape 15"/>
          <p:cNvSpPr/>
          <p:nvPr/>
        </p:nvSpPr>
        <p:spPr>
          <a:xfrm>
            <a:off x="3886200" y="2944368"/>
            <a:ext cx="3200400" cy="1298448"/>
          </a:xfrm>
          <a:prstGeom prst="roundRect">
            <a:avLst>
              <a:gd name="adj" fmla="val 4930"/>
            </a:avLst>
          </a:prstGeom>
          <a:solidFill>
            <a:srgbClr val="FFFFFF"/>
          </a:solidFill>
          <a:ln w="12700">
            <a:solidFill>
              <a:srgbClr val="DCE3E8"/>
            </a:solidFill>
            <a:prstDash val="solid"/>
          </a:ln>
        </p:spPr>
      </p:sp>
      <p:sp>
        <p:nvSpPr>
          <p:cNvPr id="22" name="Shape 16"/>
          <p:cNvSpPr/>
          <p:nvPr/>
        </p:nvSpPr>
        <p:spPr>
          <a:xfrm>
            <a:off x="4087368" y="3282696"/>
            <a:ext cx="621792" cy="621792"/>
          </a:xfrm>
          <a:prstGeom prst="ellipse">
            <a:avLst/>
          </a:prstGeom>
          <a:solidFill>
            <a:srgbClr val="0B2545"/>
          </a:solidFill>
          <a:ln/>
        </p:spPr>
      </p:sp>
      <p:pic>
        <p:nvPicPr>
          <p:cNvPr id="23" name="Image 4" descr="/home/claude/icons/kpi_rate_w.png"/>
          <p:cNvPicPr>
            <a:picLocks noChangeAspect="1"/>
          </p:cNvPicPr>
          <p:nvPr/>
        </p:nvPicPr>
        <p:blipFill>
          <a:blip r:embed="rId6"/>
          <a:stretch>
            <a:fillRect/>
          </a:stretch>
        </p:blipFill>
        <p:spPr>
          <a:xfrm>
            <a:off x="4233672" y="3429000"/>
            <a:ext cx="329184" cy="329184"/>
          </a:xfrm>
          <a:prstGeom prst="rect">
            <a:avLst/>
          </a:prstGeom>
        </p:spPr>
      </p:pic>
      <p:sp>
        <p:nvSpPr>
          <p:cNvPr id="24" name="Text 17"/>
          <p:cNvSpPr/>
          <p:nvPr/>
        </p:nvSpPr>
        <p:spPr>
          <a:xfrm>
            <a:off x="4892040" y="3090672"/>
            <a:ext cx="2011680" cy="54864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90.30%</a:t>
            </a:r>
            <a:endParaRPr lang="en-US" sz="2200" dirty="0"/>
          </a:p>
        </p:txBody>
      </p:sp>
      <p:sp>
        <p:nvSpPr>
          <p:cNvPr id="25" name="Text 18"/>
          <p:cNvSpPr/>
          <p:nvPr/>
        </p:nvSpPr>
        <p:spPr>
          <a:xfrm>
            <a:off x="4892040" y="3657600"/>
            <a:ext cx="2011680" cy="365760"/>
          </a:xfrm>
          <a:prstGeom prst="rect">
            <a:avLst/>
          </a:prstGeom>
          <a:noFill/>
          <a:ln/>
        </p:spPr>
        <p:txBody>
          <a:bodyPr wrap="square" rtlCol="0" anchor="ctr"/>
          <a:lstStyle/>
          <a:p>
            <a:pPr marL="0" indent="0">
              <a:buNone/>
            </a:pPr>
            <a:r>
              <a:rPr lang="en-US" sz="1000" b="1" kern="0" spc="100" dirty="0">
                <a:solidFill>
                  <a:srgbClr val="5C6B7A"/>
                </a:solidFill>
                <a:latin typeface="Calibri" pitchFamily="34" charset="0"/>
                <a:ea typeface="Calibri" pitchFamily="34" charset="-122"/>
                <a:cs typeface="Calibri" pitchFamily="34" charset="-120"/>
              </a:rPr>
              <a:t>APPROVAL RATE</a:t>
            </a:r>
            <a:endParaRPr lang="en-US" sz="1000" dirty="0"/>
          </a:p>
        </p:txBody>
      </p:sp>
      <p:sp>
        <p:nvSpPr>
          <p:cNvPr id="26" name="Shape 19"/>
          <p:cNvSpPr/>
          <p:nvPr/>
        </p:nvSpPr>
        <p:spPr>
          <a:xfrm>
            <a:off x="548640" y="4379976"/>
            <a:ext cx="3200400" cy="1298448"/>
          </a:xfrm>
          <a:prstGeom prst="roundRect">
            <a:avLst>
              <a:gd name="adj" fmla="val 4930"/>
            </a:avLst>
          </a:prstGeom>
          <a:solidFill>
            <a:srgbClr val="FFFFFF"/>
          </a:solidFill>
          <a:ln w="12700">
            <a:solidFill>
              <a:srgbClr val="DCE3E8"/>
            </a:solidFill>
            <a:prstDash val="solid"/>
          </a:ln>
        </p:spPr>
      </p:sp>
      <p:sp>
        <p:nvSpPr>
          <p:cNvPr id="27" name="Shape 20"/>
          <p:cNvSpPr/>
          <p:nvPr/>
        </p:nvSpPr>
        <p:spPr>
          <a:xfrm>
            <a:off x="749808" y="4718304"/>
            <a:ext cx="621792" cy="621792"/>
          </a:xfrm>
          <a:prstGeom prst="ellipse">
            <a:avLst/>
          </a:prstGeom>
          <a:solidFill>
            <a:srgbClr val="0B2545"/>
          </a:solidFill>
          <a:ln/>
        </p:spPr>
      </p:sp>
      <p:pic>
        <p:nvPicPr>
          <p:cNvPr id="28" name="Image 5" descr="/home/claude/icons/kpi_amount_w.png"/>
          <p:cNvPicPr>
            <a:picLocks noChangeAspect="1"/>
          </p:cNvPicPr>
          <p:nvPr/>
        </p:nvPicPr>
        <p:blipFill>
          <a:blip r:embed="rId7"/>
          <a:stretch>
            <a:fillRect/>
          </a:stretch>
        </p:blipFill>
        <p:spPr>
          <a:xfrm>
            <a:off x="896112" y="4864608"/>
            <a:ext cx="329184" cy="329184"/>
          </a:xfrm>
          <a:prstGeom prst="rect">
            <a:avLst/>
          </a:prstGeom>
        </p:spPr>
      </p:pic>
      <p:sp>
        <p:nvSpPr>
          <p:cNvPr id="29" name="Text 21"/>
          <p:cNvSpPr/>
          <p:nvPr/>
        </p:nvSpPr>
        <p:spPr>
          <a:xfrm>
            <a:off x="1554480" y="4526280"/>
            <a:ext cx="2011680" cy="54864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₹3,79,855</a:t>
            </a:r>
            <a:endParaRPr lang="en-US" sz="2200" dirty="0"/>
          </a:p>
        </p:txBody>
      </p:sp>
      <p:sp>
        <p:nvSpPr>
          <p:cNvPr id="30" name="Text 22"/>
          <p:cNvSpPr/>
          <p:nvPr/>
        </p:nvSpPr>
        <p:spPr>
          <a:xfrm>
            <a:off x="1554480" y="5093208"/>
            <a:ext cx="2011680" cy="365760"/>
          </a:xfrm>
          <a:prstGeom prst="rect">
            <a:avLst/>
          </a:prstGeom>
          <a:noFill/>
          <a:ln/>
        </p:spPr>
        <p:txBody>
          <a:bodyPr wrap="square" rtlCol="0" anchor="ctr"/>
          <a:lstStyle/>
          <a:p>
            <a:pPr marL="0" indent="0">
              <a:buNone/>
            </a:pPr>
            <a:r>
              <a:rPr lang="en-US" sz="1000" b="1" kern="0" spc="100" dirty="0">
                <a:solidFill>
                  <a:srgbClr val="5C6B7A"/>
                </a:solidFill>
                <a:latin typeface="Calibri" pitchFamily="34" charset="0"/>
                <a:ea typeface="Calibri" pitchFamily="34" charset="-122"/>
                <a:cs typeface="Calibri" pitchFamily="34" charset="-120"/>
              </a:rPr>
              <a:t>TOTAL LOAN AMOUNT</a:t>
            </a:r>
            <a:endParaRPr lang="en-US" sz="1000" dirty="0"/>
          </a:p>
        </p:txBody>
      </p:sp>
      <p:sp>
        <p:nvSpPr>
          <p:cNvPr id="36" name="Text 27"/>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37" name="Text 2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pic>
        <p:nvPicPr>
          <p:cNvPr id="39" name="Graphic 38">
            <a:extLst>
              <a:ext uri="{FF2B5EF4-FFF2-40B4-BE49-F238E27FC236}">
                <a16:creationId xmlns:a16="http://schemas.microsoft.com/office/drawing/2014/main" id="{5A5AD4F3-F0B8-E440-50B9-B3B9F7DC10A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86600" y="0"/>
            <a:ext cx="5187159"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7"/>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06  ·  VISUAL ANALYSIS</a:t>
            </a:r>
            <a:endParaRPr lang="en-US" sz="1250" dirty="0"/>
          </a:p>
        </p:txBody>
      </p:sp>
      <p:sp>
        <p:nvSpPr>
          <p:cNvPr id="3" name="Text 1"/>
          <p:cNvSpPr/>
          <p:nvPr/>
        </p:nvSpPr>
        <p:spPr>
          <a:xfrm>
            <a:off x="210765" y="603621"/>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Charts &amp; Visual Analysis  (1 of 2)</a:t>
            </a:r>
            <a:endParaRPr lang="en-US" sz="3000" dirty="0"/>
          </a:p>
        </p:txBody>
      </p:sp>
      <p:sp>
        <p:nvSpPr>
          <p:cNvPr id="7" name="Text 4"/>
          <p:cNvSpPr/>
          <p:nvPr/>
        </p:nvSpPr>
        <p:spPr>
          <a:xfrm>
            <a:off x="457200" y="5086233"/>
            <a:ext cx="4897694" cy="1074654"/>
          </a:xfrm>
          <a:prstGeom prst="rect">
            <a:avLst/>
          </a:prstGeom>
          <a:noFill/>
          <a:ln/>
        </p:spPr>
        <p:txBody>
          <a:bodyPr wrap="square" rtlCol="0" anchor="ctr"/>
          <a:lstStyle/>
          <a:p>
            <a:pPr marL="0" indent="0">
              <a:lnSpc>
                <a:spcPts val="1200"/>
              </a:lnSpc>
              <a:buNone/>
            </a:pPr>
            <a:r>
              <a:rPr lang="en-US" sz="1400" dirty="0">
                <a:solidFill>
                  <a:srgbClr val="5C6B7A"/>
                </a:solidFill>
                <a:latin typeface="Calibri" pitchFamily="34" charset="0"/>
                <a:ea typeface="Calibri" pitchFamily="34" charset="-122"/>
                <a:cs typeface="Calibri" pitchFamily="34" charset="-120"/>
              </a:rPr>
              <a:t>Shows the overall proportion of approved vs. rejected applications — 90% of all applications were approved.</a:t>
            </a:r>
            <a:endParaRPr lang="en-US" sz="1400" dirty="0"/>
          </a:p>
        </p:txBody>
      </p:sp>
      <p:sp>
        <p:nvSpPr>
          <p:cNvPr id="9" name="Text 6"/>
          <p:cNvSpPr/>
          <p:nvPr/>
        </p:nvSpPr>
        <p:spPr>
          <a:xfrm>
            <a:off x="6530632" y="1351143"/>
            <a:ext cx="3071281" cy="320040"/>
          </a:xfrm>
          <a:prstGeom prst="rect">
            <a:avLst/>
          </a:prstGeom>
          <a:noFill/>
          <a:ln/>
        </p:spPr>
        <p:txBody>
          <a:bodyPr wrap="square" rtlCol="0" anchor="ctr"/>
          <a:lstStyle/>
          <a:p>
            <a:pPr marL="0" indent="0">
              <a:buNone/>
            </a:pPr>
            <a:r>
              <a:rPr lang="en-US" b="1" dirty="0">
                <a:solidFill>
                  <a:srgbClr val="0B2545"/>
                </a:solidFill>
                <a:latin typeface="Calibri" pitchFamily="34" charset="0"/>
                <a:ea typeface="Calibri" pitchFamily="34" charset="-122"/>
                <a:cs typeface="Calibri" pitchFamily="34" charset="-120"/>
              </a:rPr>
              <a:t>2. Loan Approval by Gender</a:t>
            </a:r>
            <a:endParaRPr lang="en-US" dirty="0"/>
          </a:p>
        </p:txBody>
      </p:sp>
      <p:sp>
        <p:nvSpPr>
          <p:cNvPr id="11" name="Text 7"/>
          <p:cNvSpPr/>
          <p:nvPr/>
        </p:nvSpPr>
        <p:spPr>
          <a:xfrm>
            <a:off x="6530632" y="5086233"/>
            <a:ext cx="5044052" cy="1074654"/>
          </a:xfrm>
          <a:prstGeom prst="rect">
            <a:avLst/>
          </a:prstGeom>
          <a:noFill/>
          <a:ln/>
        </p:spPr>
        <p:txBody>
          <a:bodyPr wrap="square" rtlCol="0" anchor="ctr"/>
          <a:lstStyle/>
          <a:p>
            <a:pPr marL="0" indent="0">
              <a:lnSpc>
                <a:spcPts val="1200"/>
              </a:lnSpc>
              <a:buNone/>
            </a:pPr>
            <a:r>
              <a:rPr lang="en-US" sz="1400" dirty="0">
                <a:solidFill>
                  <a:srgbClr val="5C6B7A"/>
                </a:solidFill>
                <a:latin typeface="Calibri" pitchFamily="34" charset="0"/>
                <a:ea typeface="Calibri" pitchFamily="34" charset="-122"/>
                <a:cs typeface="Calibri" pitchFamily="34" charset="-120"/>
              </a:rPr>
              <a:t>Compares approvals between male and female applicants — approval behavior is broadly consistent across gender.</a:t>
            </a:r>
            <a:endParaRPr lang="en-US" sz="1400" dirty="0"/>
          </a:p>
        </p:txBody>
      </p:sp>
      <p:sp>
        <p:nvSpPr>
          <p:cNvPr id="13" name="Text 9"/>
          <p:cNvSpPr/>
          <p:nvPr/>
        </p:nvSpPr>
        <p:spPr>
          <a:xfrm>
            <a:off x="210765" y="1394460"/>
            <a:ext cx="3246120" cy="320040"/>
          </a:xfrm>
          <a:prstGeom prst="rect">
            <a:avLst/>
          </a:prstGeom>
          <a:noFill/>
          <a:ln/>
        </p:spPr>
        <p:txBody>
          <a:bodyPr wrap="square" rtlCol="0" anchor="ctr"/>
          <a:lstStyle/>
          <a:p>
            <a:pPr marL="0" indent="0">
              <a:buNone/>
            </a:pPr>
            <a:r>
              <a:rPr lang="en-US" b="1" dirty="0">
                <a:solidFill>
                  <a:srgbClr val="0B2545"/>
                </a:solidFill>
                <a:latin typeface="Calibri" pitchFamily="34" charset="0"/>
                <a:ea typeface="Calibri" pitchFamily="34" charset="-122"/>
                <a:cs typeface="Calibri" pitchFamily="34" charset="-120"/>
              </a:rPr>
              <a:t>1. Loan Status Distribution</a:t>
            </a:r>
            <a:endParaRPr lang="en-US" dirty="0"/>
          </a:p>
        </p:txBody>
      </p:sp>
      <p:sp>
        <p:nvSpPr>
          <p:cNvPr id="16" name="Text 11"/>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17" name="Text 12"/>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graphicFrame>
        <p:nvGraphicFramePr>
          <p:cNvPr id="20" name="Chart 19">
            <a:extLst>
              <a:ext uri="{FF2B5EF4-FFF2-40B4-BE49-F238E27FC236}">
                <a16:creationId xmlns:a16="http://schemas.microsoft.com/office/drawing/2014/main" id="{0F10EF62-F9C2-45E4-8CD7-6D23684A0EEF}"/>
              </a:ext>
            </a:extLst>
          </p:cNvPr>
          <p:cNvGraphicFramePr>
            <a:graphicFrameLocks/>
          </p:cNvGraphicFramePr>
          <p:nvPr>
            <p:extLst>
              <p:ext uri="{D42A27DB-BD31-4B8C-83A1-F6EECF244321}">
                <p14:modId xmlns:p14="http://schemas.microsoft.com/office/powerpoint/2010/main" val="900434392"/>
              </p:ext>
            </p:extLst>
          </p:nvPr>
        </p:nvGraphicFramePr>
        <p:xfrm>
          <a:off x="6530632" y="1837944"/>
          <a:ext cx="5363184" cy="32814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hart 20">
            <a:extLst>
              <a:ext uri="{FF2B5EF4-FFF2-40B4-BE49-F238E27FC236}">
                <a16:creationId xmlns:a16="http://schemas.microsoft.com/office/drawing/2014/main" id="{F46488D1-19F2-4238-A7C6-D16552BFC369}"/>
              </a:ext>
            </a:extLst>
          </p:cNvPr>
          <p:cNvGraphicFramePr>
            <a:graphicFrameLocks/>
          </p:cNvGraphicFramePr>
          <p:nvPr>
            <p:extLst>
              <p:ext uri="{D42A27DB-BD31-4B8C-83A1-F6EECF244321}">
                <p14:modId xmlns:p14="http://schemas.microsoft.com/office/powerpoint/2010/main" val="2170383174"/>
              </p:ext>
            </p:extLst>
          </p:nvPr>
        </p:nvGraphicFramePr>
        <p:xfrm>
          <a:off x="311285" y="1841547"/>
          <a:ext cx="5363183" cy="327789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5F7"/>
        </a:solidFill>
        <a:effectLst/>
      </p:bgPr>
    </p:bg>
    <p:spTree>
      <p:nvGrpSpPr>
        <p:cNvPr id="1" name="">
          <a:extLst>
            <a:ext uri="{FF2B5EF4-FFF2-40B4-BE49-F238E27FC236}">
              <a16:creationId xmlns:a16="http://schemas.microsoft.com/office/drawing/2014/main" id="{864B8F06-1380-0811-7DCA-A73EC4AC31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59A2FD3-65FF-C94E-C9DF-81AB86F21581}"/>
              </a:ext>
            </a:extLst>
          </p:cNvPr>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06  ·  VISUAL ANALYSIS</a:t>
            </a:r>
            <a:endParaRPr lang="en-US" sz="1250" dirty="0"/>
          </a:p>
        </p:txBody>
      </p:sp>
      <p:sp>
        <p:nvSpPr>
          <p:cNvPr id="3" name="Text 1">
            <a:extLst>
              <a:ext uri="{FF2B5EF4-FFF2-40B4-BE49-F238E27FC236}">
                <a16:creationId xmlns:a16="http://schemas.microsoft.com/office/drawing/2014/main" id="{6C5E4773-28D5-D8EF-A74B-5A93B17275DA}"/>
              </a:ext>
            </a:extLst>
          </p:cNvPr>
          <p:cNvSpPr/>
          <p:nvPr/>
        </p:nvSpPr>
        <p:spPr>
          <a:xfrm>
            <a:off x="210765" y="583814"/>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Charts &amp; Visual Analysis  (1 of 2)</a:t>
            </a:r>
            <a:endParaRPr lang="en-US" sz="3000" dirty="0"/>
          </a:p>
        </p:txBody>
      </p:sp>
      <p:sp>
        <p:nvSpPr>
          <p:cNvPr id="7" name="Text 4">
            <a:extLst>
              <a:ext uri="{FF2B5EF4-FFF2-40B4-BE49-F238E27FC236}">
                <a16:creationId xmlns:a16="http://schemas.microsoft.com/office/drawing/2014/main" id="{47E058C9-0EBA-C7E7-9E49-BCC05B784D25}"/>
              </a:ext>
            </a:extLst>
          </p:cNvPr>
          <p:cNvSpPr/>
          <p:nvPr/>
        </p:nvSpPr>
        <p:spPr>
          <a:xfrm>
            <a:off x="311285" y="5115834"/>
            <a:ext cx="4897694" cy="1074654"/>
          </a:xfrm>
          <a:prstGeom prst="rect">
            <a:avLst/>
          </a:prstGeom>
          <a:noFill/>
          <a:ln/>
        </p:spPr>
        <p:txBody>
          <a:bodyPr wrap="square" rtlCol="0" anchor="ctr"/>
          <a:lstStyle/>
          <a:p>
            <a:pPr>
              <a:lnSpc>
                <a:spcPts val="1200"/>
              </a:lnSpc>
            </a:pPr>
            <a:r>
              <a:rPr lang="en-US" sz="1400" dirty="0">
                <a:solidFill>
                  <a:srgbClr val="5C6B7A"/>
                </a:solidFill>
                <a:latin typeface="Calibri" pitchFamily="34" charset="0"/>
                <a:ea typeface="Calibri" pitchFamily="34" charset="-122"/>
                <a:cs typeface="Calibri" pitchFamily="34" charset="-120"/>
              </a:rPr>
              <a:t>Graduate applicants receive a higher share of approvals than non-graduates, both in count and rate.</a:t>
            </a:r>
            <a:endParaRPr lang="en-US" sz="1400" dirty="0"/>
          </a:p>
        </p:txBody>
      </p:sp>
      <p:sp>
        <p:nvSpPr>
          <p:cNvPr id="9" name="Text 6">
            <a:extLst>
              <a:ext uri="{FF2B5EF4-FFF2-40B4-BE49-F238E27FC236}">
                <a16:creationId xmlns:a16="http://schemas.microsoft.com/office/drawing/2014/main" id="{60D85DE1-BDFF-93BF-014E-51C4A97F3DD0}"/>
              </a:ext>
            </a:extLst>
          </p:cNvPr>
          <p:cNvSpPr/>
          <p:nvPr/>
        </p:nvSpPr>
        <p:spPr>
          <a:xfrm>
            <a:off x="6443213" y="1250775"/>
            <a:ext cx="4195733" cy="600133"/>
          </a:xfrm>
          <a:prstGeom prst="rect">
            <a:avLst/>
          </a:prstGeom>
          <a:noFill/>
          <a:ln/>
        </p:spPr>
        <p:txBody>
          <a:bodyPr wrap="square" rtlCol="0" anchor="ctr"/>
          <a:lstStyle/>
          <a:p>
            <a:pPr marL="0" indent="0">
              <a:buNone/>
            </a:pPr>
            <a:r>
              <a:rPr lang="en-US" b="1" dirty="0">
                <a:solidFill>
                  <a:srgbClr val="0B2545"/>
                </a:solidFill>
                <a:latin typeface="Calibri" pitchFamily="34" charset="0"/>
                <a:ea typeface="Calibri" pitchFamily="34" charset="-122"/>
                <a:cs typeface="Calibri" pitchFamily="34" charset="-120"/>
              </a:rPr>
              <a:t>4. Loan Approval by Credit Score</a:t>
            </a:r>
            <a:endParaRPr lang="en-US" dirty="0"/>
          </a:p>
        </p:txBody>
      </p:sp>
      <p:sp>
        <p:nvSpPr>
          <p:cNvPr id="11" name="Text 7">
            <a:extLst>
              <a:ext uri="{FF2B5EF4-FFF2-40B4-BE49-F238E27FC236}">
                <a16:creationId xmlns:a16="http://schemas.microsoft.com/office/drawing/2014/main" id="{C14C4D64-014B-5CFA-AA84-AB28A9DB6B93}"/>
              </a:ext>
            </a:extLst>
          </p:cNvPr>
          <p:cNvSpPr/>
          <p:nvPr/>
        </p:nvSpPr>
        <p:spPr>
          <a:xfrm>
            <a:off x="6530632" y="5086233"/>
            <a:ext cx="5044052" cy="1074654"/>
          </a:xfrm>
          <a:prstGeom prst="rect">
            <a:avLst/>
          </a:prstGeom>
          <a:noFill/>
          <a:ln/>
        </p:spPr>
        <p:txBody>
          <a:bodyPr wrap="square" rtlCol="0" anchor="ctr"/>
          <a:lstStyle/>
          <a:p>
            <a:pPr>
              <a:lnSpc>
                <a:spcPts val="1200"/>
              </a:lnSpc>
            </a:pPr>
            <a:r>
              <a:rPr lang="en-US" sz="1400" dirty="0">
                <a:solidFill>
                  <a:srgbClr val="5C6B7A"/>
                </a:solidFill>
                <a:latin typeface="Calibri" pitchFamily="34" charset="0"/>
                <a:ea typeface="Calibri" pitchFamily="34" charset="-122"/>
                <a:cs typeface="Calibri" pitchFamily="34" charset="-120"/>
              </a:rPr>
              <a:t>Credit history is the strongest predictor of approval — applicants with good credit history are approved at a dramatically higher rate.</a:t>
            </a:r>
            <a:endParaRPr lang="en-US" sz="1400" dirty="0"/>
          </a:p>
        </p:txBody>
      </p:sp>
      <p:sp>
        <p:nvSpPr>
          <p:cNvPr id="13" name="Text 9">
            <a:extLst>
              <a:ext uri="{FF2B5EF4-FFF2-40B4-BE49-F238E27FC236}">
                <a16:creationId xmlns:a16="http://schemas.microsoft.com/office/drawing/2014/main" id="{62E7FE82-A32B-A5B0-A4D5-5C38B4D59B3B}"/>
              </a:ext>
            </a:extLst>
          </p:cNvPr>
          <p:cNvSpPr/>
          <p:nvPr/>
        </p:nvSpPr>
        <p:spPr>
          <a:xfrm>
            <a:off x="210765" y="1394460"/>
            <a:ext cx="3246120" cy="320040"/>
          </a:xfrm>
          <a:prstGeom prst="rect">
            <a:avLst/>
          </a:prstGeom>
          <a:noFill/>
          <a:ln/>
        </p:spPr>
        <p:txBody>
          <a:bodyPr wrap="square" rtlCol="0" anchor="ctr"/>
          <a:lstStyle/>
          <a:p>
            <a:pPr marL="0" indent="0">
              <a:buNone/>
            </a:pPr>
            <a:r>
              <a:rPr lang="en-US" b="1" dirty="0">
                <a:solidFill>
                  <a:srgbClr val="0B2545"/>
                </a:solidFill>
                <a:latin typeface="Calibri" pitchFamily="34" charset="0"/>
                <a:ea typeface="Calibri" pitchFamily="34" charset="-122"/>
                <a:cs typeface="Calibri" pitchFamily="34" charset="-120"/>
              </a:rPr>
              <a:t>3. Loan Approval by Education</a:t>
            </a:r>
            <a:endParaRPr lang="en-US" dirty="0"/>
          </a:p>
        </p:txBody>
      </p:sp>
      <p:sp>
        <p:nvSpPr>
          <p:cNvPr id="16" name="Text 11">
            <a:extLst>
              <a:ext uri="{FF2B5EF4-FFF2-40B4-BE49-F238E27FC236}">
                <a16:creationId xmlns:a16="http://schemas.microsoft.com/office/drawing/2014/main" id="{CC5E68FA-7211-84F0-F99F-FB091230AD5B}"/>
              </a:ext>
            </a:extLst>
          </p:cNvPr>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17" name="Text 12">
            <a:extLst>
              <a:ext uri="{FF2B5EF4-FFF2-40B4-BE49-F238E27FC236}">
                <a16:creationId xmlns:a16="http://schemas.microsoft.com/office/drawing/2014/main" id="{26704BEB-C07B-029D-1E71-C672E93F7D2A}"/>
              </a:ext>
            </a:extLst>
          </p:cNvPr>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graphicFrame>
        <p:nvGraphicFramePr>
          <p:cNvPr id="6" name="Chart 5">
            <a:extLst>
              <a:ext uri="{FF2B5EF4-FFF2-40B4-BE49-F238E27FC236}">
                <a16:creationId xmlns:a16="http://schemas.microsoft.com/office/drawing/2014/main" id="{025D69BE-3452-428F-AED3-319883B3F3C1}"/>
              </a:ext>
            </a:extLst>
          </p:cNvPr>
          <p:cNvGraphicFramePr>
            <a:graphicFrameLocks/>
          </p:cNvGraphicFramePr>
          <p:nvPr>
            <p:extLst>
              <p:ext uri="{D42A27DB-BD31-4B8C-83A1-F6EECF244321}">
                <p14:modId xmlns:p14="http://schemas.microsoft.com/office/powerpoint/2010/main" val="3542861954"/>
              </p:ext>
            </p:extLst>
          </p:nvPr>
        </p:nvGraphicFramePr>
        <p:xfrm>
          <a:off x="210765" y="1840748"/>
          <a:ext cx="5363184" cy="32758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6BB0A5BB-3EE2-4436-8413-EAAB23214B16}"/>
              </a:ext>
            </a:extLst>
          </p:cNvPr>
          <p:cNvGraphicFramePr>
            <a:graphicFrameLocks/>
          </p:cNvGraphicFramePr>
          <p:nvPr>
            <p:extLst>
              <p:ext uri="{D42A27DB-BD31-4B8C-83A1-F6EECF244321}">
                <p14:modId xmlns:p14="http://schemas.microsoft.com/office/powerpoint/2010/main" val="966234182"/>
              </p:ext>
            </p:extLst>
          </p:nvPr>
        </p:nvGraphicFramePr>
        <p:xfrm>
          <a:off x="6443213" y="1850908"/>
          <a:ext cx="5363184" cy="33031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24189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5F7"/>
        </a:solidFill>
        <a:effectLst/>
      </p:bgPr>
    </p:bg>
    <p:spTree>
      <p:nvGrpSpPr>
        <p:cNvPr id="1" name="">
          <a:extLst>
            <a:ext uri="{FF2B5EF4-FFF2-40B4-BE49-F238E27FC236}">
              <a16:creationId xmlns:a16="http://schemas.microsoft.com/office/drawing/2014/main" id="{12DFA8D7-7A24-6DA3-504D-3A582B8D5D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8105D7E-F84D-ECFE-71EF-2E43F0DBCE6F}"/>
              </a:ext>
            </a:extLst>
          </p:cNvPr>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06  ·  VISUAL ANALYSIS</a:t>
            </a:r>
            <a:endParaRPr lang="en-US" sz="1250" dirty="0"/>
          </a:p>
        </p:txBody>
      </p:sp>
      <p:sp>
        <p:nvSpPr>
          <p:cNvPr id="3" name="Text 1">
            <a:extLst>
              <a:ext uri="{FF2B5EF4-FFF2-40B4-BE49-F238E27FC236}">
                <a16:creationId xmlns:a16="http://schemas.microsoft.com/office/drawing/2014/main" id="{4D20BD05-365F-8DA9-7C51-DD3CA9087B3C}"/>
              </a:ext>
            </a:extLst>
          </p:cNvPr>
          <p:cNvSpPr/>
          <p:nvPr/>
        </p:nvSpPr>
        <p:spPr>
          <a:xfrm>
            <a:off x="210765" y="583814"/>
            <a:ext cx="1051560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Charts &amp; Visual Analysis  (1 of 2)</a:t>
            </a:r>
            <a:endParaRPr lang="en-US" sz="3000" dirty="0"/>
          </a:p>
        </p:txBody>
      </p:sp>
      <p:sp>
        <p:nvSpPr>
          <p:cNvPr id="7" name="Text 4">
            <a:extLst>
              <a:ext uri="{FF2B5EF4-FFF2-40B4-BE49-F238E27FC236}">
                <a16:creationId xmlns:a16="http://schemas.microsoft.com/office/drawing/2014/main" id="{80F92A85-07DE-86BD-C743-86A7BB428F44}"/>
              </a:ext>
            </a:extLst>
          </p:cNvPr>
          <p:cNvSpPr/>
          <p:nvPr/>
        </p:nvSpPr>
        <p:spPr>
          <a:xfrm>
            <a:off x="443509" y="5298714"/>
            <a:ext cx="4897694" cy="1074654"/>
          </a:xfrm>
          <a:prstGeom prst="rect">
            <a:avLst/>
          </a:prstGeom>
          <a:noFill/>
          <a:ln/>
        </p:spPr>
        <p:txBody>
          <a:bodyPr wrap="square" rtlCol="0" anchor="ctr"/>
          <a:lstStyle/>
          <a:p>
            <a:pPr>
              <a:lnSpc>
                <a:spcPts val="1200"/>
              </a:lnSpc>
            </a:pPr>
            <a:r>
              <a:rPr lang="en-US" sz="1400" dirty="0">
                <a:solidFill>
                  <a:srgbClr val="5C6B7A"/>
                </a:solidFill>
                <a:latin typeface="Calibri" pitchFamily="34" charset="0"/>
                <a:ea typeface="Calibri" pitchFamily="34" charset="-122"/>
                <a:cs typeface="Calibri" pitchFamily="34" charset="-120"/>
              </a:rPr>
              <a:t>Compares total loan amount disbursed by property location — rural and semiurban areas contribute the largest lending volumes.</a:t>
            </a:r>
            <a:endParaRPr lang="en-US" sz="1400" dirty="0"/>
          </a:p>
        </p:txBody>
      </p:sp>
      <p:sp>
        <p:nvSpPr>
          <p:cNvPr id="9" name="Text 6">
            <a:extLst>
              <a:ext uri="{FF2B5EF4-FFF2-40B4-BE49-F238E27FC236}">
                <a16:creationId xmlns:a16="http://schemas.microsoft.com/office/drawing/2014/main" id="{DC0519A6-5D8C-B5C8-78F8-4AFE8A1849A6}"/>
              </a:ext>
            </a:extLst>
          </p:cNvPr>
          <p:cNvSpPr/>
          <p:nvPr/>
        </p:nvSpPr>
        <p:spPr>
          <a:xfrm>
            <a:off x="6293563" y="1191990"/>
            <a:ext cx="4195733" cy="600133"/>
          </a:xfrm>
          <a:prstGeom prst="rect">
            <a:avLst/>
          </a:prstGeom>
          <a:noFill/>
          <a:ln/>
        </p:spPr>
        <p:txBody>
          <a:bodyPr wrap="square" rtlCol="0" anchor="ctr"/>
          <a:lstStyle/>
          <a:p>
            <a:pPr marL="0" indent="0">
              <a:buNone/>
            </a:pPr>
            <a:r>
              <a:rPr lang="en-US" b="1" dirty="0">
                <a:solidFill>
                  <a:srgbClr val="0B2545"/>
                </a:solidFill>
                <a:latin typeface="Calibri" pitchFamily="34" charset="0"/>
                <a:ea typeface="Calibri" pitchFamily="34" charset="-122"/>
                <a:cs typeface="Calibri" pitchFamily="34" charset="-120"/>
              </a:rPr>
              <a:t>6. Loan Approval by Dependents</a:t>
            </a:r>
            <a:endParaRPr lang="en-US" dirty="0"/>
          </a:p>
        </p:txBody>
      </p:sp>
      <p:sp>
        <p:nvSpPr>
          <p:cNvPr id="11" name="Text 7">
            <a:extLst>
              <a:ext uri="{FF2B5EF4-FFF2-40B4-BE49-F238E27FC236}">
                <a16:creationId xmlns:a16="http://schemas.microsoft.com/office/drawing/2014/main" id="{C060E043-1C91-4F5C-C1A2-14A3115C5D7F}"/>
              </a:ext>
            </a:extLst>
          </p:cNvPr>
          <p:cNvSpPr/>
          <p:nvPr/>
        </p:nvSpPr>
        <p:spPr>
          <a:xfrm>
            <a:off x="6388392" y="5244099"/>
            <a:ext cx="5224488" cy="1074654"/>
          </a:xfrm>
          <a:prstGeom prst="rect">
            <a:avLst/>
          </a:prstGeom>
          <a:noFill/>
          <a:ln/>
        </p:spPr>
        <p:txBody>
          <a:bodyPr wrap="square" rtlCol="0" anchor="ctr"/>
          <a:lstStyle/>
          <a:p>
            <a:pPr>
              <a:lnSpc>
                <a:spcPts val="1200"/>
              </a:lnSpc>
            </a:pPr>
            <a:r>
              <a:rPr lang="en-US" sz="1400" dirty="0">
                <a:solidFill>
                  <a:srgbClr val="5C6B7A"/>
                </a:solidFill>
                <a:latin typeface="Calibri" pitchFamily="34" charset="0"/>
                <a:ea typeface="Calibri" pitchFamily="34" charset="-122"/>
                <a:cs typeface="Calibri" pitchFamily="34" charset="-120"/>
              </a:rPr>
              <a:t>Applicants with fewer dependents show stronger approval outcomes, likely reflecting lower financial obligation ratios.</a:t>
            </a:r>
            <a:endParaRPr lang="en-US" sz="1400" dirty="0"/>
          </a:p>
        </p:txBody>
      </p:sp>
      <p:sp>
        <p:nvSpPr>
          <p:cNvPr id="13" name="Text 9">
            <a:extLst>
              <a:ext uri="{FF2B5EF4-FFF2-40B4-BE49-F238E27FC236}">
                <a16:creationId xmlns:a16="http://schemas.microsoft.com/office/drawing/2014/main" id="{7878F2DE-B942-C7D4-36BF-910EE06C3714}"/>
              </a:ext>
            </a:extLst>
          </p:cNvPr>
          <p:cNvSpPr/>
          <p:nvPr/>
        </p:nvSpPr>
        <p:spPr>
          <a:xfrm>
            <a:off x="210764" y="1269614"/>
            <a:ext cx="3670355" cy="444886"/>
          </a:xfrm>
          <a:prstGeom prst="rect">
            <a:avLst/>
          </a:prstGeom>
          <a:noFill/>
          <a:ln/>
        </p:spPr>
        <p:txBody>
          <a:bodyPr wrap="square" rtlCol="0" anchor="ctr"/>
          <a:lstStyle/>
          <a:p>
            <a:pPr marL="0" indent="0">
              <a:buNone/>
            </a:pPr>
            <a:r>
              <a:rPr lang="en-US" b="1" dirty="0">
                <a:solidFill>
                  <a:srgbClr val="0B2545"/>
                </a:solidFill>
                <a:latin typeface="Calibri" pitchFamily="34" charset="0"/>
                <a:ea typeface="Calibri" pitchFamily="34" charset="-122"/>
                <a:cs typeface="Calibri" pitchFamily="34" charset="-120"/>
              </a:rPr>
              <a:t>5. Total Loan Amount by Property Area</a:t>
            </a:r>
            <a:endParaRPr lang="en-US" dirty="0"/>
          </a:p>
        </p:txBody>
      </p:sp>
      <p:sp>
        <p:nvSpPr>
          <p:cNvPr id="16" name="Text 11">
            <a:extLst>
              <a:ext uri="{FF2B5EF4-FFF2-40B4-BE49-F238E27FC236}">
                <a16:creationId xmlns:a16="http://schemas.microsoft.com/office/drawing/2014/main" id="{8F2B21C9-4345-56A2-2561-61018744BA4E}"/>
              </a:ext>
            </a:extLst>
          </p:cNvPr>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5C6B7A"/>
                </a:solidFill>
                <a:latin typeface="Calibri" pitchFamily="34" charset="0"/>
                <a:ea typeface="Calibri" pitchFamily="34" charset="-122"/>
                <a:cs typeface="Calibri" pitchFamily="34" charset="-120"/>
              </a:rPr>
              <a:t>BANK LOAN ANALYSIS DASHBOARD</a:t>
            </a:r>
            <a:endParaRPr lang="en-US" sz="900" dirty="0"/>
          </a:p>
        </p:txBody>
      </p:sp>
      <p:sp>
        <p:nvSpPr>
          <p:cNvPr id="17" name="Text 12">
            <a:extLst>
              <a:ext uri="{FF2B5EF4-FFF2-40B4-BE49-F238E27FC236}">
                <a16:creationId xmlns:a16="http://schemas.microsoft.com/office/drawing/2014/main" id="{2655C182-89E4-D8F9-054B-CCA47D46F3A7}"/>
              </a:ext>
            </a:extLst>
          </p:cNvPr>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graphicFrame>
        <p:nvGraphicFramePr>
          <p:cNvPr id="4" name="Chart 3">
            <a:extLst>
              <a:ext uri="{FF2B5EF4-FFF2-40B4-BE49-F238E27FC236}">
                <a16:creationId xmlns:a16="http://schemas.microsoft.com/office/drawing/2014/main" id="{9E2542A6-2CE0-4403-BB33-0E5AFA0678D7}"/>
              </a:ext>
            </a:extLst>
          </p:cNvPr>
          <p:cNvGraphicFramePr>
            <a:graphicFrameLocks/>
          </p:cNvGraphicFramePr>
          <p:nvPr>
            <p:extLst>
              <p:ext uri="{D42A27DB-BD31-4B8C-83A1-F6EECF244321}">
                <p14:modId xmlns:p14="http://schemas.microsoft.com/office/powerpoint/2010/main" val="4158870350"/>
              </p:ext>
            </p:extLst>
          </p:nvPr>
        </p:nvGraphicFramePr>
        <p:xfrm>
          <a:off x="210765" y="1850908"/>
          <a:ext cx="5363183" cy="35385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852338F8-BF0C-4ED1-B89A-77CBE07E4595}"/>
              </a:ext>
            </a:extLst>
          </p:cNvPr>
          <p:cNvGraphicFramePr>
            <a:graphicFrameLocks/>
          </p:cNvGraphicFramePr>
          <p:nvPr>
            <p:extLst>
              <p:ext uri="{D42A27DB-BD31-4B8C-83A1-F6EECF244321}">
                <p14:modId xmlns:p14="http://schemas.microsoft.com/office/powerpoint/2010/main" val="1383754801"/>
              </p:ext>
            </p:extLst>
          </p:nvPr>
        </p:nvGraphicFramePr>
        <p:xfrm>
          <a:off x="6096000" y="1850908"/>
          <a:ext cx="5552997" cy="35385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91610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384048"/>
            <a:ext cx="6400800" cy="320040"/>
          </a:xfrm>
          <a:prstGeom prst="rect">
            <a:avLst/>
          </a:prstGeom>
          <a:noFill/>
          <a:ln/>
        </p:spPr>
        <p:txBody>
          <a:bodyPr wrap="square" rtlCol="0" anchor="ctr"/>
          <a:lstStyle/>
          <a:p>
            <a:pPr marL="0" indent="0">
              <a:buNone/>
            </a:pPr>
            <a:r>
              <a:rPr lang="en-US" sz="1250" b="1" kern="0" spc="200" dirty="0">
                <a:solidFill>
                  <a:srgbClr val="02C39A"/>
                </a:solidFill>
                <a:latin typeface="Calibri" pitchFamily="34" charset="0"/>
                <a:ea typeface="Calibri" pitchFamily="34" charset="-122"/>
                <a:cs typeface="Calibri" pitchFamily="34" charset="-120"/>
              </a:rPr>
              <a:t>07  ·  FINDINGS</a:t>
            </a:r>
            <a:endParaRPr lang="en-US" sz="125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Insights &amp; Business Findings</a:t>
            </a:r>
            <a:endParaRPr lang="en-US" sz="3000" dirty="0"/>
          </a:p>
        </p:txBody>
      </p:sp>
      <p:sp>
        <p:nvSpPr>
          <p:cNvPr id="4" name="Shape 2"/>
          <p:cNvSpPr/>
          <p:nvPr/>
        </p:nvSpPr>
        <p:spPr>
          <a:xfrm>
            <a:off x="548640" y="1562876"/>
            <a:ext cx="5394960" cy="1143000"/>
          </a:xfrm>
          <a:prstGeom prst="roundRect">
            <a:avLst>
              <a:gd name="adj" fmla="val 5600"/>
            </a:avLst>
          </a:prstGeom>
          <a:solidFill>
            <a:srgbClr val="133A5E"/>
          </a:solidFill>
          <a:ln w="12700">
            <a:solidFill>
              <a:srgbClr val="2B4C6E"/>
            </a:solidFill>
            <a:prstDash val="solid"/>
          </a:ln>
        </p:spPr>
      </p:sp>
      <p:sp>
        <p:nvSpPr>
          <p:cNvPr id="5" name="Shape 3"/>
          <p:cNvSpPr/>
          <p:nvPr/>
        </p:nvSpPr>
        <p:spPr>
          <a:xfrm>
            <a:off x="749808" y="1897380"/>
            <a:ext cx="548640" cy="548640"/>
          </a:xfrm>
          <a:prstGeom prst="ellipse">
            <a:avLst/>
          </a:prstGeom>
          <a:solidFill>
            <a:srgbClr val="1C7293"/>
          </a:solidFill>
          <a:ln/>
        </p:spPr>
      </p:sp>
      <p:pic>
        <p:nvPicPr>
          <p:cNvPr id="6" name="Image 0" descr="/home/claude/icons/ins_rate.png"/>
          <p:cNvPicPr>
            <a:picLocks noChangeAspect="1"/>
          </p:cNvPicPr>
          <p:nvPr/>
        </p:nvPicPr>
        <p:blipFill>
          <a:blip r:embed="rId3"/>
          <a:stretch>
            <a:fillRect/>
          </a:stretch>
        </p:blipFill>
        <p:spPr>
          <a:xfrm>
            <a:off x="886968" y="2034540"/>
            <a:ext cx="274320" cy="274320"/>
          </a:xfrm>
          <a:prstGeom prst="rect">
            <a:avLst/>
          </a:prstGeom>
        </p:spPr>
      </p:pic>
      <p:sp>
        <p:nvSpPr>
          <p:cNvPr id="7" name="Text 4"/>
          <p:cNvSpPr/>
          <p:nvPr/>
        </p:nvSpPr>
        <p:spPr>
          <a:xfrm>
            <a:off x="1463040" y="1691640"/>
            <a:ext cx="4251960" cy="960120"/>
          </a:xfrm>
          <a:prstGeom prst="rect">
            <a:avLst/>
          </a:prstGeom>
          <a:noFill/>
          <a:ln/>
        </p:spPr>
        <p:txBody>
          <a:bodyPr wrap="square" rtlCol="0" anchor="ctr"/>
          <a:lstStyle/>
          <a:p>
            <a:pPr marL="0" indent="0">
              <a:lnSpc>
                <a:spcPts val="1500"/>
              </a:lnSpc>
              <a:buNone/>
            </a:pPr>
            <a:r>
              <a:rPr lang="en-US" sz="1150" dirty="0">
                <a:solidFill>
                  <a:srgbClr val="E7EEF4"/>
                </a:solidFill>
                <a:latin typeface="Calibri" pitchFamily="34" charset="0"/>
                <a:ea typeface="Calibri" pitchFamily="34" charset="-122"/>
                <a:cs typeface="Calibri" pitchFamily="34" charset="-120"/>
              </a:rPr>
              <a:t>Overall loan approval rate stands at 90.3%, indicating a healthy, well-qualified applicant pool.</a:t>
            </a:r>
            <a:endParaRPr lang="en-US" sz="1150" dirty="0"/>
          </a:p>
        </p:txBody>
      </p:sp>
      <p:sp>
        <p:nvSpPr>
          <p:cNvPr id="8" name="Shape 5"/>
          <p:cNvSpPr/>
          <p:nvPr/>
        </p:nvSpPr>
        <p:spPr>
          <a:xfrm>
            <a:off x="6217920" y="1600200"/>
            <a:ext cx="5394960" cy="1143000"/>
          </a:xfrm>
          <a:prstGeom prst="roundRect">
            <a:avLst>
              <a:gd name="adj" fmla="val 5600"/>
            </a:avLst>
          </a:prstGeom>
          <a:solidFill>
            <a:srgbClr val="133A5E"/>
          </a:solidFill>
          <a:ln w="12700">
            <a:solidFill>
              <a:srgbClr val="2B4C6E"/>
            </a:solidFill>
            <a:prstDash val="solid"/>
          </a:ln>
        </p:spPr>
      </p:sp>
      <p:sp>
        <p:nvSpPr>
          <p:cNvPr id="9" name="Shape 6"/>
          <p:cNvSpPr/>
          <p:nvPr/>
        </p:nvSpPr>
        <p:spPr>
          <a:xfrm>
            <a:off x="6419088" y="1897380"/>
            <a:ext cx="548640" cy="548640"/>
          </a:xfrm>
          <a:prstGeom prst="ellipse">
            <a:avLst/>
          </a:prstGeom>
          <a:solidFill>
            <a:srgbClr val="1C7293"/>
          </a:solidFill>
          <a:ln/>
        </p:spPr>
      </p:sp>
      <p:pic>
        <p:nvPicPr>
          <p:cNvPr id="10" name="Image 1" descr="/home/claude/icons/ins_star.png"/>
          <p:cNvPicPr>
            <a:picLocks noChangeAspect="1"/>
          </p:cNvPicPr>
          <p:nvPr/>
        </p:nvPicPr>
        <p:blipFill>
          <a:blip r:embed="rId4"/>
          <a:stretch>
            <a:fillRect/>
          </a:stretch>
        </p:blipFill>
        <p:spPr>
          <a:xfrm>
            <a:off x="6556248" y="2034540"/>
            <a:ext cx="274320" cy="274320"/>
          </a:xfrm>
          <a:prstGeom prst="rect">
            <a:avLst/>
          </a:prstGeom>
        </p:spPr>
      </p:pic>
      <p:sp>
        <p:nvSpPr>
          <p:cNvPr id="11" name="Text 7"/>
          <p:cNvSpPr/>
          <p:nvPr/>
        </p:nvSpPr>
        <p:spPr>
          <a:xfrm>
            <a:off x="7132320" y="1691640"/>
            <a:ext cx="4251960" cy="960120"/>
          </a:xfrm>
          <a:prstGeom prst="rect">
            <a:avLst/>
          </a:prstGeom>
          <a:noFill/>
          <a:ln/>
        </p:spPr>
        <p:txBody>
          <a:bodyPr wrap="square" rtlCol="0" anchor="ctr"/>
          <a:lstStyle/>
          <a:p>
            <a:pPr marL="0" indent="0">
              <a:lnSpc>
                <a:spcPts val="1500"/>
              </a:lnSpc>
              <a:buNone/>
            </a:pPr>
            <a:r>
              <a:rPr lang="en-US" sz="1150" dirty="0">
                <a:solidFill>
                  <a:srgbClr val="E7EEF4"/>
                </a:solidFill>
                <a:latin typeface="Calibri" pitchFamily="34" charset="0"/>
                <a:ea typeface="Calibri" pitchFamily="34" charset="-122"/>
                <a:cs typeface="Calibri" pitchFamily="34" charset="-120"/>
              </a:rPr>
              <a:t>Credit history is the single most influential factor affecting loan approval decisions.</a:t>
            </a:r>
            <a:endParaRPr lang="en-US" sz="1150" dirty="0"/>
          </a:p>
        </p:txBody>
      </p:sp>
      <p:sp>
        <p:nvSpPr>
          <p:cNvPr id="12" name="Shape 8"/>
          <p:cNvSpPr/>
          <p:nvPr/>
        </p:nvSpPr>
        <p:spPr>
          <a:xfrm>
            <a:off x="548640" y="2907792"/>
            <a:ext cx="5394960" cy="1143000"/>
          </a:xfrm>
          <a:prstGeom prst="roundRect">
            <a:avLst>
              <a:gd name="adj" fmla="val 5600"/>
            </a:avLst>
          </a:prstGeom>
          <a:solidFill>
            <a:srgbClr val="133A5E"/>
          </a:solidFill>
          <a:ln w="12700">
            <a:solidFill>
              <a:srgbClr val="2B4C6E"/>
            </a:solidFill>
            <a:prstDash val="solid"/>
          </a:ln>
        </p:spPr>
      </p:sp>
      <p:sp>
        <p:nvSpPr>
          <p:cNvPr id="13" name="Shape 9"/>
          <p:cNvSpPr/>
          <p:nvPr/>
        </p:nvSpPr>
        <p:spPr>
          <a:xfrm>
            <a:off x="749808" y="3204972"/>
            <a:ext cx="548640" cy="548640"/>
          </a:xfrm>
          <a:prstGeom prst="ellipse">
            <a:avLst/>
          </a:prstGeom>
          <a:solidFill>
            <a:srgbClr val="1C7293"/>
          </a:solidFill>
          <a:ln/>
        </p:spPr>
      </p:sp>
      <p:pic>
        <p:nvPicPr>
          <p:cNvPr id="14" name="Image 2" descr="/home/claude/icons/ins_credit.png"/>
          <p:cNvPicPr>
            <a:picLocks noChangeAspect="1"/>
          </p:cNvPicPr>
          <p:nvPr/>
        </p:nvPicPr>
        <p:blipFill>
          <a:blip r:embed="rId5"/>
          <a:stretch>
            <a:fillRect/>
          </a:stretch>
        </p:blipFill>
        <p:spPr>
          <a:xfrm>
            <a:off x="886968" y="3342132"/>
            <a:ext cx="274320" cy="274320"/>
          </a:xfrm>
          <a:prstGeom prst="rect">
            <a:avLst/>
          </a:prstGeom>
        </p:spPr>
      </p:pic>
      <p:sp>
        <p:nvSpPr>
          <p:cNvPr id="15" name="Text 10"/>
          <p:cNvSpPr/>
          <p:nvPr/>
        </p:nvSpPr>
        <p:spPr>
          <a:xfrm>
            <a:off x="1463040" y="2999232"/>
            <a:ext cx="4251960" cy="960120"/>
          </a:xfrm>
          <a:prstGeom prst="rect">
            <a:avLst/>
          </a:prstGeom>
          <a:noFill/>
          <a:ln/>
        </p:spPr>
        <p:txBody>
          <a:bodyPr wrap="square" rtlCol="0" anchor="ctr"/>
          <a:lstStyle/>
          <a:p>
            <a:pPr marL="0" indent="0">
              <a:lnSpc>
                <a:spcPts val="1500"/>
              </a:lnSpc>
              <a:buNone/>
            </a:pPr>
            <a:r>
              <a:rPr lang="en-US" sz="1150" dirty="0">
                <a:solidFill>
                  <a:srgbClr val="E7EEF4"/>
                </a:solidFill>
                <a:latin typeface="Calibri" pitchFamily="34" charset="0"/>
                <a:ea typeface="Calibri" pitchFamily="34" charset="-122"/>
                <a:cs typeface="Calibri" pitchFamily="34" charset="-120"/>
              </a:rPr>
              <a:t>Applicants with a good credit history are approved at the highest rate of any segment.</a:t>
            </a:r>
            <a:endParaRPr lang="en-US" sz="1150" dirty="0"/>
          </a:p>
        </p:txBody>
      </p:sp>
      <p:sp>
        <p:nvSpPr>
          <p:cNvPr id="16" name="Shape 11"/>
          <p:cNvSpPr/>
          <p:nvPr/>
        </p:nvSpPr>
        <p:spPr>
          <a:xfrm>
            <a:off x="6217920" y="2907792"/>
            <a:ext cx="5394960" cy="1143000"/>
          </a:xfrm>
          <a:prstGeom prst="roundRect">
            <a:avLst>
              <a:gd name="adj" fmla="val 5600"/>
            </a:avLst>
          </a:prstGeom>
          <a:solidFill>
            <a:srgbClr val="133A5E"/>
          </a:solidFill>
          <a:ln w="12700">
            <a:solidFill>
              <a:srgbClr val="2B4C6E"/>
            </a:solidFill>
            <a:prstDash val="solid"/>
          </a:ln>
        </p:spPr>
      </p:sp>
      <p:sp>
        <p:nvSpPr>
          <p:cNvPr id="17" name="Shape 12"/>
          <p:cNvSpPr/>
          <p:nvPr/>
        </p:nvSpPr>
        <p:spPr>
          <a:xfrm>
            <a:off x="6419088" y="3204972"/>
            <a:ext cx="548640" cy="548640"/>
          </a:xfrm>
          <a:prstGeom prst="ellipse">
            <a:avLst/>
          </a:prstGeom>
          <a:solidFill>
            <a:srgbClr val="1C7293"/>
          </a:solidFill>
          <a:ln/>
        </p:spPr>
      </p:sp>
      <p:pic>
        <p:nvPicPr>
          <p:cNvPr id="18" name="Image 3" descr="/home/claude/icons/ins_edu.png"/>
          <p:cNvPicPr>
            <a:picLocks noChangeAspect="1"/>
          </p:cNvPicPr>
          <p:nvPr/>
        </p:nvPicPr>
        <p:blipFill>
          <a:blip r:embed="rId6"/>
          <a:stretch>
            <a:fillRect/>
          </a:stretch>
        </p:blipFill>
        <p:spPr>
          <a:xfrm>
            <a:off x="6556248" y="3342132"/>
            <a:ext cx="274320" cy="274320"/>
          </a:xfrm>
          <a:prstGeom prst="rect">
            <a:avLst/>
          </a:prstGeom>
        </p:spPr>
      </p:pic>
      <p:sp>
        <p:nvSpPr>
          <p:cNvPr id="19" name="Text 13"/>
          <p:cNvSpPr/>
          <p:nvPr/>
        </p:nvSpPr>
        <p:spPr>
          <a:xfrm>
            <a:off x="7132320" y="2999232"/>
            <a:ext cx="4251960" cy="960120"/>
          </a:xfrm>
          <a:prstGeom prst="rect">
            <a:avLst/>
          </a:prstGeom>
          <a:noFill/>
          <a:ln/>
        </p:spPr>
        <p:txBody>
          <a:bodyPr wrap="square" rtlCol="0" anchor="ctr"/>
          <a:lstStyle/>
          <a:p>
            <a:pPr marL="0" indent="0">
              <a:lnSpc>
                <a:spcPts val="1500"/>
              </a:lnSpc>
              <a:buNone/>
            </a:pPr>
            <a:r>
              <a:rPr lang="en-US" sz="1150" dirty="0">
                <a:solidFill>
                  <a:srgbClr val="E7EEF4"/>
                </a:solidFill>
                <a:latin typeface="Calibri" pitchFamily="34" charset="0"/>
                <a:ea typeface="Calibri" pitchFamily="34" charset="-122"/>
                <a:cs typeface="Calibri" pitchFamily="34" charset="-120"/>
              </a:rPr>
              <a:t>Graduate applicants receive more loan approvals than non-graduate applicants.</a:t>
            </a:r>
            <a:endParaRPr lang="en-US" sz="1150" dirty="0"/>
          </a:p>
        </p:txBody>
      </p:sp>
      <p:sp>
        <p:nvSpPr>
          <p:cNvPr id="20" name="Shape 14"/>
          <p:cNvSpPr/>
          <p:nvPr/>
        </p:nvSpPr>
        <p:spPr>
          <a:xfrm>
            <a:off x="548640" y="4215384"/>
            <a:ext cx="5394960" cy="1143000"/>
          </a:xfrm>
          <a:prstGeom prst="roundRect">
            <a:avLst>
              <a:gd name="adj" fmla="val 5600"/>
            </a:avLst>
          </a:prstGeom>
          <a:solidFill>
            <a:srgbClr val="133A5E"/>
          </a:solidFill>
          <a:ln w="12700">
            <a:solidFill>
              <a:srgbClr val="2B4C6E"/>
            </a:solidFill>
            <a:prstDash val="solid"/>
          </a:ln>
        </p:spPr>
      </p:sp>
      <p:sp>
        <p:nvSpPr>
          <p:cNvPr id="21" name="Shape 15"/>
          <p:cNvSpPr/>
          <p:nvPr/>
        </p:nvSpPr>
        <p:spPr>
          <a:xfrm>
            <a:off x="749808" y="4512564"/>
            <a:ext cx="548640" cy="548640"/>
          </a:xfrm>
          <a:prstGeom prst="ellipse">
            <a:avLst/>
          </a:prstGeom>
          <a:solidFill>
            <a:srgbClr val="1C7293"/>
          </a:solidFill>
          <a:ln/>
        </p:spPr>
      </p:sp>
      <p:pic>
        <p:nvPicPr>
          <p:cNvPr id="22" name="Image 4" descr="/home/claude/icons/ins_gap.png"/>
          <p:cNvPicPr>
            <a:picLocks noChangeAspect="1"/>
          </p:cNvPicPr>
          <p:nvPr/>
        </p:nvPicPr>
        <p:blipFill>
          <a:blip r:embed="rId7"/>
          <a:stretch>
            <a:fillRect/>
          </a:stretch>
        </p:blipFill>
        <p:spPr>
          <a:xfrm>
            <a:off x="886968" y="4649724"/>
            <a:ext cx="274320" cy="274320"/>
          </a:xfrm>
          <a:prstGeom prst="rect">
            <a:avLst/>
          </a:prstGeom>
        </p:spPr>
      </p:pic>
      <p:sp>
        <p:nvSpPr>
          <p:cNvPr id="23" name="Text 16"/>
          <p:cNvSpPr/>
          <p:nvPr/>
        </p:nvSpPr>
        <p:spPr>
          <a:xfrm>
            <a:off x="1463040" y="4306824"/>
            <a:ext cx="4251960" cy="960120"/>
          </a:xfrm>
          <a:prstGeom prst="rect">
            <a:avLst/>
          </a:prstGeom>
          <a:noFill/>
          <a:ln/>
        </p:spPr>
        <p:txBody>
          <a:bodyPr wrap="square" rtlCol="0" anchor="ctr"/>
          <a:lstStyle/>
          <a:p>
            <a:pPr>
              <a:lnSpc>
                <a:spcPts val="1500"/>
              </a:lnSpc>
            </a:pPr>
            <a:r>
              <a:rPr lang="en-US" sz="1200" dirty="0">
                <a:solidFill>
                  <a:schemeClr val="bg1"/>
                </a:solidFill>
              </a:rPr>
              <a:t>Approved loans are higher than rejected loans in all applicant groups.</a:t>
            </a:r>
            <a:endParaRPr lang="en-US" sz="1150" dirty="0">
              <a:solidFill>
                <a:schemeClr val="bg1"/>
              </a:solidFill>
            </a:endParaRPr>
          </a:p>
        </p:txBody>
      </p:sp>
      <p:sp>
        <p:nvSpPr>
          <p:cNvPr id="24" name="Shape 17"/>
          <p:cNvSpPr/>
          <p:nvPr/>
        </p:nvSpPr>
        <p:spPr>
          <a:xfrm>
            <a:off x="6217920" y="4215384"/>
            <a:ext cx="5394960" cy="1143000"/>
          </a:xfrm>
          <a:prstGeom prst="roundRect">
            <a:avLst>
              <a:gd name="adj" fmla="val 5600"/>
            </a:avLst>
          </a:prstGeom>
          <a:solidFill>
            <a:srgbClr val="133A5E"/>
          </a:solidFill>
          <a:ln w="12700">
            <a:solidFill>
              <a:srgbClr val="2B4C6E"/>
            </a:solidFill>
            <a:prstDash val="solid"/>
          </a:ln>
        </p:spPr>
      </p:sp>
      <p:sp>
        <p:nvSpPr>
          <p:cNvPr id="25" name="Shape 18"/>
          <p:cNvSpPr/>
          <p:nvPr/>
        </p:nvSpPr>
        <p:spPr>
          <a:xfrm>
            <a:off x="6419088" y="4512564"/>
            <a:ext cx="548640" cy="548640"/>
          </a:xfrm>
          <a:prstGeom prst="ellipse">
            <a:avLst/>
          </a:prstGeom>
          <a:solidFill>
            <a:srgbClr val="1C7293"/>
          </a:solidFill>
          <a:ln/>
        </p:spPr>
      </p:sp>
      <p:pic>
        <p:nvPicPr>
          <p:cNvPr id="26" name="Image 5" descr="/home/claude/icons/ins_urban.png"/>
          <p:cNvPicPr>
            <a:picLocks noChangeAspect="1"/>
          </p:cNvPicPr>
          <p:nvPr/>
        </p:nvPicPr>
        <p:blipFill>
          <a:blip r:embed="rId8"/>
          <a:stretch>
            <a:fillRect/>
          </a:stretch>
        </p:blipFill>
        <p:spPr>
          <a:xfrm>
            <a:off x="6556248" y="4649724"/>
            <a:ext cx="274320" cy="274320"/>
          </a:xfrm>
          <a:prstGeom prst="rect">
            <a:avLst/>
          </a:prstGeom>
        </p:spPr>
      </p:pic>
      <p:sp>
        <p:nvSpPr>
          <p:cNvPr id="27" name="Text 19"/>
          <p:cNvSpPr/>
          <p:nvPr/>
        </p:nvSpPr>
        <p:spPr>
          <a:xfrm>
            <a:off x="7132320" y="4306824"/>
            <a:ext cx="4251960" cy="960120"/>
          </a:xfrm>
          <a:prstGeom prst="rect">
            <a:avLst/>
          </a:prstGeom>
          <a:noFill/>
          <a:ln/>
        </p:spPr>
        <p:txBody>
          <a:bodyPr wrap="square" rtlCol="0" anchor="ctr"/>
          <a:lstStyle/>
          <a:p>
            <a:pPr marL="0" indent="0">
              <a:lnSpc>
                <a:spcPts val="1500"/>
              </a:lnSpc>
              <a:buNone/>
            </a:pPr>
            <a:r>
              <a:rPr lang="en-US" sz="1150" dirty="0">
                <a:solidFill>
                  <a:srgbClr val="E7EEF4"/>
                </a:solidFill>
                <a:latin typeface="Calibri" pitchFamily="34" charset="0"/>
                <a:ea typeface="Calibri" pitchFamily="34" charset="-122"/>
                <a:cs typeface="Calibri" pitchFamily="34" charset="-120"/>
              </a:rPr>
              <a:t>Rural and semiurban areas contribute the largest share of total loan amount disbursed.</a:t>
            </a:r>
            <a:endParaRPr lang="en-US" sz="1150" dirty="0"/>
          </a:p>
        </p:txBody>
      </p:sp>
      <p:sp>
        <p:nvSpPr>
          <p:cNvPr id="28" name="Shape 20"/>
          <p:cNvSpPr/>
          <p:nvPr/>
        </p:nvSpPr>
        <p:spPr>
          <a:xfrm>
            <a:off x="3383280" y="5522976"/>
            <a:ext cx="5394960" cy="1143000"/>
          </a:xfrm>
          <a:prstGeom prst="roundRect">
            <a:avLst>
              <a:gd name="adj" fmla="val 5600"/>
            </a:avLst>
          </a:prstGeom>
          <a:solidFill>
            <a:srgbClr val="133A5E"/>
          </a:solidFill>
          <a:ln w="12700">
            <a:solidFill>
              <a:srgbClr val="2B4C6E"/>
            </a:solidFill>
            <a:prstDash val="solid"/>
          </a:ln>
        </p:spPr>
      </p:sp>
      <p:sp>
        <p:nvSpPr>
          <p:cNvPr id="29" name="Shape 21"/>
          <p:cNvSpPr/>
          <p:nvPr/>
        </p:nvSpPr>
        <p:spPr>
          <a:xfrm>
            <a:off x="3584448" y="5820156"/>
            <a:ext cx="548640" cy="548640"/>
          </a:xfrm>
          <a:prstGeom prst="ellipse">
            <a:avLst/>
          </a:prstGeom>
          <a:solidFill>
            <a:srgbClr val="1C7293"/>
          </a:solidFill>
          <a:ln/>
        </p:spPr>
      </p:sp>
      <p:pic>
        <p:nvPicPr>
          <p:cNvPr id="30" name="Image 6" descr="/home/claude/icons/ins_dep.png"/>
          <p:cNvPicPr>
            <a:picLocks noChangeAspect="1"/>
          </p:cNvPicPr>
          <p:nvPr/>
        </p:nvPicPr>
        <p:blipFill>
          <a:blip r:embed="rId9"/>
          <a:stretch>
            <a:fillRect/>
          </a:stretch>
        </p:blipFill>
        <p:spPr>
          <a:xfrm>
            <a:off x="3721608" y="5957316"/>
            <a:ext cx="274320" cy="274320"/>
          </a:xfrm>
          <a:prstGeom prst="rect">
            <a:avLst/>
          </a:prstGeom>
        </p:spPr>
      </p:pic>
      <p:sp>
        <p:nvSpPr>
          <p:cNvPr id="31" name="Text 22"/>
          <p:cNvSpPr/>
          <p:nvPr/>
        </p:nvSpPr>
        <p:spPr>
          <a:xfrm>
            <a:off x="4297680" y="5614416"/>
            <a:ext cx="4251960" cy="960120"/>
          </a:xfrm>
          <a:prstGeom prst="rect">
            <a:avLst/>
          </a:prstGeom>
          <a:noFill/>
          <a:ln/>
        </p:spPr>
        <p:txBody>
          <a:bodyPr wrap="square" rtlCol="0" anchor="ctr"/>
          <a:lstStyle/>
          <a:p>
            <a:pPr marL="0" indent="0">
              <a:lnSpc>
                <a:spcPts val="1500"/>
              </a:lnSpc>
              <a:buNone/>
            </a:pPr>
            <a:r>
              <a:rPr lang="en-US" sz="1150" dirty="0">
                <a:solidFill>
                  <a:srgbClr val="E7EEF4"/>
                </a:solidFill>
                <a:latin typeface="Calibri" pitchFamily="34" charset="0"/>
                <a:ea typeface="Calibri" pitchFamily="34" charset="-122"/>
                <a:cs typeface="Calibri" pitchFamily="34" charset="-120"/>
              </a:rPr>
              <a:t>Applicants with fewer dependents generally show stronger, more consistent approval outcomes.</a:t>
            </a:r>
            <a:endParaRPr lang="en-US" sz="1150" dirty="0"/>
          </a:p>
        </p:txBody>
      </p:sp>
      <p:sp>
        <p:nvSpPr>
          <p:cNvPr id="32" name="Text 23"/>
          <p:cNvSpPr/>
          <p:nvPr/>
        </p:nvSpPr>
        <p:spPr>
          <a:xfrm>
            <a:off x="457200" y="6473952"/>
            <a:ext cx="5486400" cy="274320"/>
          </a:xfrm>
          <a:prstGeom prst="rect">
            <a:avLst/>
          </a:prstGeom>
          <a:noFill/>
          <a:ln/>
        </p:spPr>
        <p:txBody>
          <a:bodyPr wrap="square" rtlCol="0" anchor="ctr"/>
          <a:lstStyle/>
          <a:p>
            <a:pPr marL="0" indent="0">
              <a:buNone/>
            </a:pPr>
            <a:r>
              <a:rPr lang="en-US" sz="900" kern="0" spc="100" dirty="0">
                <a:solidFill>
                  <a:srgbClr val="8FA6BC"/>
                </a:solidFill>
                <a:latin typeface="Calibri" pitchFamily="34" charset="0"/>
                <a:ea typeface="Calibri" pitchFamily="34" charset="-122"/>
                <a:cs typeface="Calibri" pitchFamily="34" charset="-120"/>
              </a:rPr>
              <a:t>BANK LOAN ANALYSIS DASHBOARD</a:t>
            </a:r>
            <a:endParaRPr lang="en-US" sz="900" dirty="0"/>
          </a:p>
        </p:txBody>
      </p:sp>
      <p:sp>
        <p:nvSpPr>
          <p:cNvPr id="33" name="Text 2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8FA6B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4053535" cy="6858000"/>
          </a:xfrm>
          <a:prstGeom prst="rect">
            <a:avLst/>
          </a:prstGeom>
          <a:solidFill>
            <a:srgbClr val="133A5E"/>
          </a:solidFill>
          <a:ln/>
        </p:spPr>
      </p:sp>
      <p:sp>
        <p:nvSpPr>
          <p:cNvPr id="3" name="Shape 1"/>
          <p:cNvSpPr/>
          <p:nvPr/>
        </p:nvSpPr>
        <p:spPr>
          <a:xfrm>
            <a:off x="4016959" y="0"/>
            <a:ext cx="36576" cy="6858000"/>
          </a:xfrm>
          <a:prstGeom prst="rect">
            <a:avLst/>
          </a:prstGeom>
          <a:solidFill>
            <a:srgbClr val="02C39A"/>
          </a:solidFill>
          <a:ln/>
        </p:spPr>
      </p:sp>
      <p:pic>
        <p:nvPicPr>
          <p:cNvPr id="4" name="Image 0" descr="/home/claude/icons/bank.png"/>
          <p:cNvPicPr>
            <a:picLocks noChangeAspect="1"/>
          </p:cNvPicPr>
          <p:nvPr/>
        </p:nvPicPr>
        <p:blipFill>
          <a:blip r:embed="rId3"/>
          <a:stretch>
            <a:fillRect/>
          </a:stretch>
        </p:blipFill>
        <p:spPr>
          <a:xfrm>
            <a:off x="1554480" y="2468880"/>
            <a:ext cx="1005840" cy="1005840"/>
          </a:xfrm>
          <a:prstGeom prst="rect">
            <a:avLst/>
          </a:prstGeom>
        </p:spPr>
      </p:pic>
      <p:sp>
        <p:nvSpPr>
          <p:cNvPr id="5" name="Text 2"/>
          <p:cNvSpPr/>
          <p:nvPr/>
        </p:nvSpPr>
        <p:spPr>
          <a:xfrm>
            <a:off x="4572000" y="2514600"/>
            <a:ext cx="694944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p:nvPr/>
        </p:nvSpPr>
        <p:spPr>
          <a:xfrm>
            <a:off x="4572000" y="3337560"/>
            <a:ext cx="6949440" cy="457200"/>
          </a:xfrm>
          <a:prstGeom prst="rect">
            <a:avLst/>
          </a:prstGeom>
          <a:noFill/>
          <a:ln/>
        </p:spPr>
        <p:txBody>
          <a:bodyPr wrap="square" rtlCol="0" anchor="ctr"/>
          <a:lstStyle/>
          <a:p>
            <a:pPr marL="0" indent="0">
              <a:buNone/>
            </a:pPr>
            <a:r>
              <a:rPr lang="en-US" sz="1400" i="1" dirty="0">
                <a:solidFill>
                  <a:srgbClr val="C7D6E3"/>
                </a:solidFill>
                <a:latin typeface="Calibri" pitchFamily="34" charset="0"/>
                <a:ea typeface="Calibri" pitchFamily="34" charset="-122"/>
                <a:cs typeface="Calibri" pitchFamily="34" charset="-120"/>
              </a:rPr>
              <a:t>Bank Loan Analysis Dashboard  |  Excel &amp; Power Query Project</a:t>
            </a:r>
            <a:endParaRPr lang="en-US" sz="1400" dirty="0"/>
          </a:p>
        </p:txBody>
      </p:sp>
      <p:sp>
        <p:nvSpPr>
          <p:cNvPr id="7" name="Shape 4"/>
          <p:cNvSpPr/>
          <p:nvPr/>
        </p:nvSpPr>
        <p:spPr>
          <a:xfrm>
            <a:off x="4572000" y="3977640"/>
            <a:ext cx="2743200" cy="0"/>
          </a:xfrm>
          <a:prstGeom prst="line">
            <a:avLst/>
          </a:prstGeom>
          <a:noFill/>
          <a:ln w="19050">
            <a:solidFill>
              <a:srgbClr val="1C7293"/>
            </a:solidFill>
            <a:prstDash val="solid"/>
          </a:ln>
        </p:spPr>
      </p:sp>
      <p:sp>
        <p:nvSpPr>
          <p:cNvPr id="12" name="Text 7"/>
          <p:cNvSpPr/>
          <p:nvPr/>
        </p:nvSpPr>
        <p:spPr>
          <a:xfrm>
            <a:off x="4572000" y="5760720"/>
            <a:ext cx="5486400" cy="365760"/>
          </a:xfrm>
          <a:prstGeom prst="rect">
            <a:avLst/>
          </a:prstGeom>
          <a:noFill/>
          <a:ln/>
        </p:spPr>
        <p:txBody>
          <a:bodyPr wrap="square"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Questions &amp; Discussion Welcome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574</TotalTime>
  <Words>906</Words>
  <Application>Microsoft Office PowerPoint</Application>
  <PresentationFormat>Widescreen</PresentationFormat>
  <Paragraphs>151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918983327800</cp:lastModifiedBy>
  <cp:revision>9</cp:revision>
  <dcterms:created xsi:type="dcterms:W3CDTF">2026-08-11T10:28:29Z</dcterms:created>
  <dcterms:modified xsi:type="dcterms:W3CDTF">2026-08-12T05:41:29Z</dcterms:modified>
</cp:coreProperties>
</file>